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(20–30 seconds): “Hello judges. This is CampusSignal AI. Students hear about internships, hackathons and scholarships through PDFs, posters and forwards. CampusSignal turns those notices into an organized, reviewable opportunity feed, then helps a student keep track of deadlines and find collaborators who choose to be discoverable. I’ll show the working prototype and be clear about what is built today versus what still needs a campus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problem we are addressing is not a lack of opportunities. It is the gap between receiving a notice and acting on it. A student may have to reread a WhatsApp forward, open a poster, check eligibility and remember the closing date. We are making that path shorter and easier to track. We have not measured how many students currently miss deadlines; that is a question for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has three modules. Notice Intelligence structures content. Opportunity Radar helps the student save and track it. Team Matcher ranks students who have opted in. The core design choice is to keep the student in the loop: AI output is editable, saving is explicit, and profile discovery is opt-in.”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narration: “I start with the raw source. Gemini proposes fields, but I can inspect and correct them. Only after I save does it become an opportunity in the radar. From there I choose whether to track it, and the dashboard uses saved items to display deadline reminders.” Point out that a parser is not an authority: the source and human review remain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extractor uses Gemini to read text or an uploaded image/document and return a fixed schema. It is instructed not to invent a deadline or registration link. The output is validated and shown in an editable review form. Judges should understand that schema validity means the data has the expected shape; it does not prove factual correctness. The user still checks the original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extraction, the student can browse the Radar and track status. In-app reminders are shown on the dashboard. Browser notifications need permission, and the reminder check runs while the app is open and visible, so this is not an email or server-side push service. Source labels indicate record provenance and must not be confused with independent fact-checking.”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Matcher is not an LLM deciding who is good enough. It uses a deterministic weighted score built from skill matches, role alignment, interests and experience; the score is capped. Gemma creates a readable explanation, and there is a rule-based fallback if AI fails. Profiles only appear when their owner enables discovery. For this prototype the cold-start is real: if no other students opt in, the correct result is no recommendations, not fabricated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must explicitly choose to be discoverable. The profile makes clear that signed-in users can see name, college, skills and preferred roles, while email and password are not exposed in the matcher. The database uses row-level policies. This is an implementation safeguard, not a claim of a completed security audit. We would still run a formal review before a broad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high level, the Next.js app sends authenticated requests to server routes. The routes validate input before calling the Google AI SDK. User profiles, opportunities and saved statuses live in Supabase Postgres. Row-level security complements the API checks. The AI key is server-side; the browser never receives the service-role key. This slide shows the implemented prototype architecture, not a production-scale distributed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benefit is a more reliable path from notice to action, but we have not yet measured time saved or deadline outcomes. A pilot can compare task time and extraction corrections against manual entry, then track whether students save opportunities and complete applications. For team matching, we need feedback from both requesters and invited collaborators. I’ll distinguish these hypotheses from results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should be narrow. Start with a student club or department that can provide real source notices. Review every extraction and log corrections. Ask users whether the reminder helped and whether the source link was clear. Team matching needs enough opt-in profiles, so measure that funnel separately from algorithm quality. We will not claim improvement until the pilot yields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runbook: “Sign in. On Dashboard, point out saved deadlines. Go to Notice Intelligence. Paste a short realistic notice and extract it. Pause at the editable fields and compare them with the source. Save it. Open Radar and mark it Interested. Return to Dashboard and show that it is tracked. Open Team Matcher, explain the opt-in field, enter a short project request and show the honest empty state if no peers are discoverable. Do not promise a match when the campus dataset is not populated.” If AI quota or network fails, switch to the already saved Radar record and explain the AI call is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working prototype, not yet a campus-wide production service. Authentication, database persistence, extraction, radar and reminder UI are implemented. The Radar is not currently continuously crawling every institution. Notifications are browser-local and require the app open. A student must verify an extracted notice. Team matching needs actual opted-in profiles. These constraints define the next engineering and pilot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not to add more AI for its own sake. First, recruit a small student group and collect sourced notices. Measure corrections and user follow-through. If reminders prove useful, move scheduling to a server-side job that can work when the browser is closed. Expand sources only with clear provenance and moderation.”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“We are asking to run a focused pilot with one campus group, real sourced notices and students who choose to participate. We will measure extraction corrections, reminder usefulness and whether team introductions turn into actual collaboration. Thank you. I’m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Expanded answers:
Q: How do you prevent hallucinated deadlines?
A: The extraction prompt explicitly prohibits inventing dates and links, and the output is validated against a typed schema. That reduces malformed or fabricated values, but it does not guarantee correctness. The student should compare extracted details with the original source before saving or applying.
Q: Does “Officially sourced” mean verified by AI?
A: No. It is a provenance label for an official source record. It must not be interpreted as independent verification of every field. The URL and user review remain essential.
Q: What if Gemini is unavailable?
A: Notice extraction and AI-written explanations may fail if the key, quota or model is unavailable. Saved data and non-AI navigation still exist. We will improve fallback and monitoring before a broader pilot.
Q: Where do opportunities come from?
A: The app accepts student-submitted notices and stores source links. A continuously refreshed national or all-campus crawler is not part of this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Expanded answers:
Q: Who can see a student profile?
A: The app requires sign-in, and the database allows a student to see their own profile while other profiles are visible only if discoverable. The profile page explains which fields are shared. Email and password are not part of matching.
Q: How is the score calculated?
A: The code starts with a base score, adds points for exact skill mentions, roles mapped to request keywords, shared interests and experience level, then caps the result. It is deterministic and explainable, but it is a prototype heuristic rather than a validated hiring or aptitude model.
Q: Why zero matches?
A: A new community has a cold-start problem. Recommendations require other actual accounts with skills and roles, and those users must opt in. We plan to recruit a student group before evaluating match quality.
Q: Is it a ranking of ability?
A: No. It only estimates fit for the specific project text based on the fields the student provided. It should not be used for admissions, hiring or high-stakes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Expanded answers:
Q: Do reminders work when the app is closed?
A: Not yet. In-app reminders appear on the dashboard. Browser notification checks require permission and run while the app is open and visible. A reliable background reminder service is a roadmap item.
Q: How will you keep data current?
A: We will begin with a department, club or student council that contributes notices and checks source links. Any automated ingestion should preserve source URLs and route uncertain data through moderation. We are not claiming current all-India coverage.
Q: What is the business model?
A: It is not validated. The first goal is proving usefulness and operational cost in a focused pilot. Campus licensing or a free student tier can be evaluated only after adoption evidence.
Q: What is the success metric?
A: We will measure field-level corrections, time from notice to saved record, reminder usefulness, source verification and whether introductions lead to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621792" y="6510528"/>
            <a:ext cx="10954512" cy="0"/>
          </a:xfrm>
          <a:prstGeom prst="line">
            <a:avLst/>
          </a:prstGeom>
          <a:noFill/>
          <a:ln w="8890">
            <a:solidFill>
              <a:srgbClr val="233149"/>
            </a:solidFill>
            <a:prstDash val="solid"/>
          </a:ln>
        </p:spPr>
      </p:sp>
      <p:sp>
        <p:nvSpPr>
          <p:cNvPr id="3" name="Text 1"/>
          <p:cNvSpPr/>
          <p:nvPr/>
        </p:nvSpPr>
        <p:spPr>
          <a:xfrm>
            <a:off x="621792" y="6583680"/>
            <a:ext cx="4937760" cy="164592"/>
          </a:xfrm>
          <a:prstGeom prst="rect">
            <a:avLst/>
          </a:prstGeom>
          <a:noFill/>
          <a:ln/>
        </p:spPr>
        <p:txBody>
          <a:bodyPr wrap="square" lIns="0" tIns="0" rIns="0" bIns="0" rtlCol="0" anchor="ctr"/>
          <a:lstStyle/>
          <a:p>
            <a:pPr indent="0" marL="0">
              <a:buNone/>
            </a:pPr>
            <a:r>
              <a:rPr lang="en-US" sz="800" b="1" spc="110" kern="0" dirty="0">
                <a:solidFill>
                  <a:srgbClr val="73839D"/>
                </a:solidFill>
                <a:latin typeface="Aptos" pitchFamily="34" charset="0"/>
                <a:ea typeface="Aptos" pitchFamily="34" charset="-122"/>
                <a:cs typeface="Aptos" pitchFamily="34" charset="-120"/>
              </a:rPr>
              <a:t>CAMPUSSIGNAL AI  /  PROTOTYPE PITCH</a:t>
            </a:r>
            <a:endParaRPr lang="en-US" sz="800" dirty="0"/>
          </a:p>
        </p:txBody>
      </p:sp>
      <p:sp>
        <p:nvSpPr>
          <p:cNvPr id="4" name="Text 2"/>
          <p:cNvSpPr/>
          <p:nvPr/>
        </p:nvSpPr>
        <p:spPr>
          <a:xfrm>
            <a:off x="8869680" y="6583680"/>
            <a:ext cx="2240280" cy="164592"/>
          </a:xfrm>
          <a:prstGeom prst="rect">
            <a:avLst/>
          </a:prstGeom>
          <a:noFill/>
          <a:ln/>
        </p:spPr>
        <p:txBody>
          <a:bodyPr wrap="square" lIns="0" tIns="0" rIns="0" bIns="0" rtlCol="0" anchor="ctr"/>
          <a:lstStyle/>
          <a:p>
            <a:pPr algn="r" indent="0" marL="0">
              <a:buNone/>
            </a:pPr>
            <a:r>
              <a:rPr lang="en-US" sz="800" b="1" spc="110" kern="0" dirty="0">
                <a:solidFill>
                  <a:srgbClr val="73839D"/>
                </a:solidFill>
                <a:latin typeface="Aptos" pitchFamily="34" charset="0"/>
                <a:ea typeface="Aptos" pitchFamily="34" charset="-122"/>
                <a:cs typeface="Aptos" pitchFamily="34" charset="-120"/>
              </a:rPr>
              <a:t>JUDGE PRESENTATION</a:t>
            </a:r>
            <a:endParaRPr lang="en-US" sz="8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D18"/>
        </a:solidFill>
      </p:bgPr>
    </p:bg>
    <p:spTree>
      <p:nvGrpSpPr>
        <p:cNvPr id="1" name=""/>
        <p:cNvGrpSpPr/>
        <p:nvPr/>
      </p:nvGrpSpPr>
      <p:grpSpPr>
        <a:xfrm>
          <a:off x="0" y="0"/>
          <a:ext cx="0" cy="0"/>
          <a:chOff x="0" y="0"/>
          <a:chExt cx="0" cy="0"/>
        </a:xfrm>
      </p:grpSpPr>
      <p:sp>
        <p:nvSpPr>
          <p:cNvPr id="2" name="Text 0"/>
          <p:cNvSpPr txBox="1"/>
          <p:nvPr/>
        </p:nvSpPr>
        <p:spPr>
          <a:xfrm>
            <a:off x="804672" y="658368"/>
            <a:ext cx="3931920" cy="274320"/>
          </a:xfrm>
          <a:prstGeom prst="rect">
            <a:avLst/>
          </a:prstGeom>
          <a:noFill/>
          <a:ln/>
        </p:spPr>
        <p:txBody>
          <a:bodyPr wrap="square" lIns="0" tIns="0" rIns="0" bIns="0" rtlCol="0" anchor="ctr">
            <a:normAutofit/>
          </a:bodyPr>
          <a:lstStyle/>
          <a:p>
            <a:pPr algn="l" indent="0" marL="0">
              <a:lnSpc>
                <a:spcPct val="112000"/>
              </a:lnSpc>
              <a:buNone/>
            </a:pPr>
            <a:r>
              <a:rPr lang="en-US" sz="1100" b="1" spc="240" kern="0" dirty="0">
                <a:solidFill>
                  <a:srgbClr val="37D7E5"/>
                </a:solidFill>
                <a:latin typeface="Aptos" pitchFamily="34" charset="0"/>
                <a:ea typeface="Aptos" pitchFamily="34" charset="-122"/>
                <a:cs typeface="Aptos" pitchFamily="34" charset="-120"/>
              </a:rPr>
              <a:t>CAMPUSSIGNAL</a:t>
            </a:r>
            <a:endParaRPr lang="en-US" sz="1100" dirty="0"/>
          </a:p>
        </p:txBody>
      </p:sp>
      <p:sp>
        <p:nvSpPr>
          <p:cNvPr id="3" name="Text 1"/>
          <p:cNvSpPr txBox="1"/>
          <p:nvPr/>
        </p:nvSpPr>
        <p:spPr>
          <a:xfrm>
            <a:off x="3913632" y="640080"/>
            <a:ext cx="438912" cy="292608"/>
          </a:xfrm>
          <a:prstGeom prst="rect">
            <a:avLst/>
          </a:prstGeom>
          <a:noFill/>
          <a:ln/>
        </p:spPr>
        <p:txBody>
          <a:bodyPr wrap="square" lIns="0" tIns="0" rIns="0" bIns="0" rtlCol="0" anchor="ctr">
            <a:normAutofit/>
          </a:bodyPr>
          <a:lstStyle/>
          <a:p>
            <a:pPr algn="ctr" indent="0" marL="0">
              <a:lnSpc>
                <a:spcPct val="112000"/>
              </a:lnSpc>
              <a:buNone/>
            </a:pPr>
            <a:r>
              <a:rPr lang="en-US" sz="1100" b="1" dirty="0">
                <a:solidFill>
                  <a:srgbClr val="F2F6FC"/>
                </a:solidFill>
                <a:latin typeface="Aptos" pitchFamily="34" charset="0"/>
                <a:ea typeface="Aptos" pitchFamily="34" charset="-122"/>
                <a:cs typeface="Aptos" pitchFamily="34" charset="-120"/>
              </a:rPr>
              <a:t>AI</a:t>
            </a:r>
            <a:endParaRPr lang="en-US" sz="1100" dirty="0"/>
          </a:p>
        </p:txBody>
      </p:sp>
      <p:sp>
        <p:nvSpPr>
          <p:cNvPr id="4" name="Shape 2"/>
          <p:cNvSpPr/>
          <p:nvPr/>
        </p:nvSpPr>
        <p:spPr>
          <a:xfrm>
            <a:off x="3822192" y="621792"/>
            <a:ext cx="658368" cy="320040"/>
          </a:xfrm>
          <a:prstGeom prst="roundRect">
            <a:avLst>
              <a:gd name="adj" fmla="val 22857"/>
            </a:avLst>
          </a:prstGeom>
          <a:solidFill>
            <a:srgbClr val="4B83FF"/>
          </a:solidFill>
          <a:ln w="10160">
            <a:solidFill>
              <a:srgbClr val="4B83FF">
                <a:alpha val="0"/>
              </a:srgbClr>
            </a:solidFill>
            <a:prstDash val="solid"/>
          </a:ln>
        </p:spPr>
      </p:sp>
      <p:sp>
        <p:nvSpPr>
          <p:cNvPr id="5" name="Text 3"/>
          <p:cNvSpPr txBox="1"/>
          <p:nvPr/>
        </p:nvSpPr>
        <p:spPr>
          <a:xfrm>
            <a:off x="3913632" y="640080"/>
            <a:ext cx="438912" cy="292608"/>
          </a:xfrm>
          <a:prstGeom prst="rect">
            <a:avLst/>
          </a:prstGeom>
          <a:noFill/>
          <a:ln/>
        </p:spPr>
        <p:txBody>
          <a:bodyPr wrap="square" lIns="0" tIns="0" rIns="0" bIns="0" rtlCol="0" anchor="ctr">
            <a:normAutofit/>
          </a:bodyPr>
          <a:lstStyle/>
          <a:p>
            <a:pPr algn="ctr" indent="0" marL="0">
              <a:lnSpc>
                <a:spcPct val="112000"/>
              </a:lnSpc>
              <a:buNone/>
            </a:pPr>
            <a:r>
              <a:rPr lang="en-US" sz="1100" b="1" dirty="0">
                <a:solidFill>
                  <a:srgbClr val="F2F6FC"/>
                </a:solidFill>
                <a:latin typeface="Aptos" pitchFamily="34" charset="0"/>
                <a:ea typeface="Aptos" pitchFamily="34" charset="-122"/>
                <a:cs typeface="Aptos" pitchFamily="34" charset="-120"/>
              </a:rPr>
              <a:t>AI</a:t>
            </a:r>
            <a:endParaRPr lang="en-US" sz="1100" dirty="0"/>
          </a:p>
        </p:txBody>
      </p:sp>
      <p:sp>
        <p:nvSpPr>
          <p:cNvPr id="6" name="Text 4"/>
          <p:cNvSpPr txBox="1"/>
          <p:nvPr/>
        </p:nvSpPr>
        <p:spPr>
          <a:xfrm>
            <a:off x="786384" y="1938528"/>
            <a:ext cx="8229600" cy="786384"/>
          </a:xfrm>
          <a:prstGeom prst="rect">
            <a:avLst/>
          </a:prstGeom>
          <a:noFill/>
          <a:ln/>
        </p:spPr>
        <p:txBody>
          <a:bodyPr wrap="square" lIns="0" tIns="0" rIns="0" bIns="0" rtlCol="0" anchor="ctr">
            <a:normAutofit/>
          </a:bodyPr>
          <a:lstStyle/>
          <a:p>
            <a:pPr algn="l" indent="0" marL="0">
              <a:lnSpc>
                <a:spcPct val="112000"/>
              </a:lnSpc>
              <a:buNone/>
            </a:pPr>
            <a:r>
              <a:rPr lang="en-US" sz="4700" b="1" dirty="0">
                <a:solidFill>
                  <a:srgbClr val="F2F6FC"/>
                </a:solidFill>
                <a:latin typeface="Aptos Display" pitchFamily="34" charset="0"/>
                <a:ea typeface="Aptos Display" pitchFamily="34" charset="-122"/>
                <a:cs typeface="Aptos Display" pitchFamily="34" charset="-120"/>
              </a:rPr>
              <a:t>CampusSignal AI</a:t>
            </a:r>
            <a:endParaRPr lang="en-US" sz="4700" dirty="0"/>
          </a:p>
        </p:txBody>
      </p:sp>
      <p:sp>
        <p:nvSpPr>
          <p:cNvPr id="7" name="Text 5"/>
          <p:cNvSpPr txBox="1"/>
          <p:nvPr/>
        </p:nvSpPr>
        <p:spPr>
          <a:xfrm>
            <a:off x="822960" y="2889504"/>
            <a:ext cx="8961120" cy="530352"/>
          </a:xfrm>
          <a:prstGeom prst="rect">
            <a:avLst/>
          </a:prstGeom>
          <a:noFill/>
          <a:ln/>
        </p:spPr>
        <p:txBody>
          <a:bodyPr wrap="square" lIns="0" tIns="0" rIns="0" bIns="0" rtlCol="0" anchor="ctr">
            <a:normAutofit/>
          </a:bodyPr>
          <a:lstStyle/>
          <a:p>
            <a:pPr algn="l" indent="0" marL="0">
              <a:lnSpc>
                <a:spcPct val="112000"/>
              </a:lnSpc>
              <a:buNone/>
            </a:pPr>
            <a:r>
              <a:rPr lang="en-US" sz="2600" b="1" dirty="0">
                <a:solidFill>
                  <a:srgbClr val="37D7E5"/>
                </a:solidFill>
                <a:latin typeface="Aptos Display" pitchFamily="34" charset="0"/>
                <a:ea typeface="Aptos Display" pitchFamily="34" charset="-122"/>
                <a:cs typeface="Aptos Display" pitchFamily="34" charset="-120"/>
              </a:rPr>
              <a:t>Campus opportunities, organized for action</a:t>
            </a:r>
            <a:endParaRPr lang="en-US" sz="2600" dirty="0"/>
          </a:p>
        </p:txBody>
      </p:sp>
      <p:sp>
        <p:nvSpPr>
          <p:cNvPr id="8" name="Text 6"/>
          <p:cNvSpPr txBox="1"/>
          <p:nvPr/>
        </p:nvSpPr>
        <p:spPr>
          <a:xfrm>
            <a:off x="841248" y="3694176"/>
            <a:ext cx="7863840" cy="777240"/>
          </a:xfrm>
          <a:prstGeom prst="rect">
            <a:avLst/>
          </a:prstGeom>
          <a:noFill/>
          <a:ln/>
        </p:spPr>
        <p:txBody>
          <a:bodyPr wrap="square" lIns="0" tIns="0" rIns="0" bIns="0" rtlCol="0" anchor="t">
            <a:normAutofit/>
          </a:bodyPr>
          <a:lstStyle/>
          <a:p>
            <a:pPr algn="l" indent="0" marL="0">
              <a:lnSpc>
                <a:spcPct val="112000"/>
              </a:lnSpc>
              <a:buNone/>
            </a:pPr>
            <a:r>
              <a:rPr lang="en-US" sz="1900" dirty="0">
                <a:solidFill>
                  <a:srgbClr val="A8B5C9"/>
                </a:solidFill>
                <a:latin typeface="Aptos" pitchFamily="34" charset="0"/>
                <a:ea typeface="Aptos" pitchFamily="34" charset="-122"/>
                <a:cs typeface="Aptos" pitchFamily="34" charset="-120"/>
              </a:rPr>
              <a:t>A student-focused prototype for turning scattered notices into trackable opportunities and opt-in project teams.</a:t>
            </a:r>
            <a:endParaRPr lang="en-US" sz="1900" dirty="0"/>
          </a:p>
        </p:txBody>
      </p:sp>
      <p:sp>
        <p:nvSpPr>
          <p:cNvPr id="9" name="Shape 7"/>
          <p:cNvSpPr/>
          <p:nvPr/>
        </p:nvSpPr>
        <p:spPr>
          <a:xfrm>
            <a:off x="841248" y="4956048"/>
            <a:ext cx="1490472" cy="0"/>
          </a:xfrm>
          <a:prstGeom prst="line">
            <a:avLst/>
          </a:prstGeom>
          <a:noFill/>
          <a:ln w="38100">
            <a:solidFill>
              <a:srgbClr val="37D7E5"/>
            </a:solidFill>
            <a:prstDash val="solid"/>
          </a:ln>
        </p:spPr>
      </p:sp>
      <p:sp>
        <p:nvSpPr>
          <p:cNvPr id="10" name="Text 8"/>
          <p:cNvSpPr txBox="1"/>
          <p:nvPr/>
        </p:nvSpPr>
        <p:spPr>
          <a:xfrm>
            <a:off x="841248" y="5175504"/>
            <a:ext cx="8046720" cy="228600"/>
          </a:xfrm>
          <a:prstGeom prst="rect">
            <a:avLst/>
          </a:prstGeom>
          <a:noFill/>
          <a:ln/>
        </p:spPr>
        <p:txBody>
          <a:bodyPr wrap="square" lIns="0" tIns="0" rIns="0" bIns="0" rtlCol="0" anchor="ctr">
            <a:normAutofit/>
          </a:bodyPr>
          <a:lstStyle/>
          <a:p>
            <a:pPr algn="l" indent="0" marL="0">
              <a:lnSpc>
                <a:spcPct val="112000"/>
              </a:lnSpc>
              <a:buNone/>
            </a:pPr>
            <a:r>
              <a:rPr lang="en-US" sz="1000" b="1" spc="140" kern="0" dirty="0">
                <a:solidFill>
                  <a:srgbClr val="74839B"/>
                </a:solidFill>
                <a:latin typeface="Aptos" pitchFamily="34" charset="0"/>
                <a:ea typeface="Aptos" pitchFamily="34" charset="-122"/>
                <a:cs typeface="Aptos" pitchFamily="34" charset="-120"/>
              </a:rPr>
              <a:t>JUDGE PRESENTATION  •  LIVE PROTOTYPE WALKTHROUGH</a:t>
            </a:r>
            <a:endParaRPr lang="en-US" sz="1000" dirty="0"/>
          </a:p>
        </p:txBody>
      </p:sp>
      <p:sp>
        <p:nvSpPr>
          <p:cNvPr id="11" name="Text 9"/>
          <p:cNvSpPr txBox="1"/>
          <p:nvPr/>
        </p:nvSpPr>
        <p:spPr>
          <a:xfrm>
            <a:off x="11018520" y="6345936"/>
            <a:ext cx="384048" cy="201168"/>
          </a:xfrm>
          <a:prstGeom prst="rect">
            <a:avLst/>
          </a:prstGeom>
          <a:noFill/>
          <a:ln/>
        </p:spPr>
        <p:txBody>
          <a:bodyPr wrap="square" lIns="0" tIns="0" rIns="0" bIns="0" rtlCol="0" anchor="ctr">
            <a:normAutofit/>
          </a:bodyPr>
          <a:lstStyle/>
          <a:p>
            <a:pPr algn="r" indent="0" marL="0">
              <a:lnSpc>
                <a:spcPct val="112000"/>
              </a:lnSpc>
              <a:buNone/>
            </a:pPr>
            <a:r>
              <a:rPr lang="en-US" sz="900" dirty="0">
                <a:solidFill>
                  <a:srgbClr val="74839B"/>
                </a:solidFill>
                <a:latin typeface="Aptos" pitchFamily="34" charset="0"/>
                <a:ea typeface="Aptos" pitchFamily="34" charset="-122"/>
                <a:cs typeface="Aptos"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THE PROBLEM</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Campus opportunity information is scattered</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Students often have to turn an unstructured message into a decision by hand.</a:t>
            </a:r>
            <a:endParaRPr lang="en-US" sz="1500" dirty="0"/>
          </a:p>
        </p:txBody>
      </p:sp>
      <p:sp>
        <p:nvSpPr>
          <p:cNvPr id="5" name="Text 3"/>
          <p:cNvSpPr txBox="1"/>
          <p:nvPr/>
        </p:nvSpPr>
        <p:spPr>
          <a:xfrm>
            <a:off x="841248" y="2240280"/>
            <a:ext cx="438912"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37D7E5"/>
                </a:solidFill>
                <a:latin typeface="Aptos Display" pitchFamily="34" charset="0"/>
                <a:ea typeface="Aptos Display" pitchFamily="34" charset="-122"/>
                <a:cs typeface="Aptos Display" pitchFamily="34" charset="-120"/>
              </a:rPr>
              <a:t>01</a:t>
            </a:r>
            <a:endParaRPr lang="en-US" sz="1300" dirty="0"/>
          </a:p>
        </p:txBody>
      </p:sp>
      <p:sp>
        <p:nvSpPr>
          <p:cNvPr id="6" name="Text 4"/>
          <p:cNvSpPr txBox="1"/>
          <p:nvPr/>
        </p:nvSpPr>
        <p:spPr>
          <a:xfrm>
            <a:off x="1426464" y="2221992"/>
            <a:ext cx="4581144" cy="292608"/>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F2F6FC"/>
                </a:solidFill>
                <a:latin typeface="Aptos Display" pitchFamily="34" charset="0"/>
                <a:ea typeface="Aptos Display" pitchFamily="34" charset="-122"/>
                <a:cs typeface="Aptos Display" pitchFamily="34" charset="-120"/>
              </a:rPr>
              <a:t>Notices live in many places</a:t>
            </a:r>
            <a:endParaRPr lang="en-US" sz="1800" dirty="0"/>
          </a:p>
        </p:txBody>
      </p:sp>
      <p:sp>
        <p:nvSpPr>
          <p:cNvPr id="7" name="Text 5"/>
          <p:cNvSpPr txBox="1"/>
          <p:nvPr/>
        </p:nvSpPr>
        <p:spPr>
          <a:xfrm>
            <a:off x="1426464" y="2596896"/>
            <a:ext cx="4489704" cy="667512"/>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A8B5C9"/>
                </a:solidFill>
                <a:latin typeface="Aptos" pitchFamily="34" charset="0"/>
                <a:ea typeface="Aptos" pitchFamily="34" charset="-122"/>
                <a:cs typeface="Aptos" pitchFamily="34" charset="-120"/>
              </a:rPr>
              <a:t>A circular PDF, a poster photo and a forwarded message can each contain a different part of the opportunity.</a:t>
            </a:r>
            <a:endParaRPr lang="en-US" sz="1600" dirty="0"/>
          </a:p>
        </p:txBody>
      </p:sp>
      <p:sp>
        <p:nvSpPr>
          <p:cNvPr id="8" name="Text 6"/>
          <p:cNvSpPr txBox="1"/>
          <p:nvPr/>
        </p:nvSpPr>
        <p:spPr>
          <a:xfrm>
            <a:off x="6263640" y="2240280"/>
            <a:ext cx="438912"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A985FF"/>
                </a:solidFill>
                <a:latin typeface="Aptos Display" pitchFamily="34" charset="0"/>
                <a:ea typeface="Aptos Display" pitchFamily="34" charset="-122"/>
                <a:cs typeface="Aptos Display" pitchFamily="34" charset="-120"/>
              </a:rPr>
              <a:t>02</a:t>
            </a:r>
            <a:endParaRPr lang="en-US" sz="1300" dirty="0"/>
          </a:p>
        </p:txBody>
      </p:sp>
      <p:sp>
        <p:nvSpPr>
          <p:cNvPr id="9" name="Text 7"/>
          <p:cNvSpPr txBox="1"/>
          <p:nvPr/>
        </p:nvSpPr>
        <p:spPr>
          <a:xfrm>
            <a:off x="6848856" y="2221992"/>
            <a:ext cx="4398264" cy="292608"/>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F2F6FC"/>
                </a:solidFill>
                <a:latin typeface="Aptos Display" pitchFamily="34" charset="0"/>
                <a:ea typeface="Aptos Display" pitchFamily="34" charset="-122"/>
                <a:cs typeface="Aptos Display" pitchFamily="34" charset="-120"/>
              </a:rPr>
              <a:t>Important details are easy to miss</a:t>
            </a:r>
            <a:endParaRPr lang="en-US" sz="1800" dirty="0"/>
          </a:p>
        </p:txBody>
      </p:sp>
      <p:sp>
        <p:nvSpPr>
          <p:cNvPr id="10" name="Text 8"/>
          <p:cNvSpPr txBox="1"/>
          <p:nvPr/>
        </p:nvSpPr>
        <p:spPr>
          <a:xfrm>
            <a:off x="6848856" y="2596896"/>
            <a:ext cx="4306824" cy="667512"/>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A8B5C9"/>
                </a:solidFill>
                <a:latin typeface="Aptos" pitchFamily="34" charset="0"/>
                <a:ea typeface="Aptos" pitchFamily="34" charset="-122"/>
                <a:cs typeface="Aptos" pitchFamily="34" charset="-120"/>
              </a:rPr>
              <a:t>Eligibility, required documents, the application link and deadline are buried in long or low-quality content.</a:t>
            </a:r>
            <a:endParaRPr lang="en-US" sz="1600" dirty="0"/>
          </a:p>
        </p:txBody>
      </p:sp>
      <p:sp>
        <p:nvSpPr>
          <p:cNvPr id="11" name="Shape 9"/>
          <p:cNvSpPr/>
          <p:nvPr/>
        </p:nvSpPr>
        <p:spPr>
          <a:xfrm>
            <a:off x="841248" y="3886200"/>
            <a:ext cx="10314432" cy="0"/>
          </a:xfrm>
          <a:prstGeom prst="line">
            <a:avLst/>
          </a:prstGeom>
          <a:noFill/>
          <a:ln w="12700">
            <a:solidFill>
              <a:srgbClr val="243149"/>
            </a:solidFill>
            <a:prstDash val="solid"/>
          </a:ln>
        </p:spPr>
      </p:sp>
      <p:sp>
        <p:nvSpPr>
          <p:cNvPr id="12" name="Text 10"/>
          <p:cNvSpPr txBox="1"/>
          <p:nvPr/>
        </p:nvSpPr>
        <p:spPr>
          <a:xfrm>
            <a:off x="859536" y="4187952"/>
            <a:ext cx="2286000" cy="210312"/>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F7C15D"/>
                </a:solidFill>
                <a:latin typeface="Aptos" pitchFamily="34" charset="0"/>
                <a:ea typeface="Aptos" pitchFamily="34" charset="-122"/>
                <a:cs typeface="Aptos" pitchFamily="34" charset="-120"/>
              </a:rPr>
              <a:t>THE CONSEQUENCE</a:t>
            </a:r>
            <a:endParaRPr lang="en-US" sz="1000" dirty="0"/>
          </a:p>
        </p:txBody>
      </p:sp>
      <p:sp>
        <p:nvSpPr>
          <p:cNvPr id="13" name="Text 11"/>
          <p:cNvSpPr txBox="1"/>
          <p:nvPr/>
        </p:nvSpPr>
        <p:spPr>
          <a:xfrm>
            <a:off x="859536" y="4590288"/>
            <a:ext cx="9738360" cy="603504"/>
          </a:xfrm>
          <a:prstGeom prst="rect">
            <a:avLst/>
          </a:prstGeom>
          <a:noFill/>
          <a:ln/>
        </p:spPr>
        <p:txBody>
          <a:bodyPr wrap="square" lIns="0" tIns="0" rIns="0" bIns="0" rtlCol="0" anchor="ctr">
            <a:normAutofit/>
          </a:bodyPr>
          <a:lstStyle/>
          <a:p>
            <a:pPr algn="l" indent="0" marL="0">
              <a:lnSpc>
                <a:spcPct val="112000"/>
              </a:lnSpc>
              <a:buNone/>
            </a:pPr>
            <a:r>
              <a:rPr lang="en-US" sz="2600" b="1" dirty="0">
                <a:solidFill>
                  <a:srgbClr val="F2F6FC"/>
                </a:solidFill>
                <a:latin typeface="Aptos Display" pitchFamily="34" charset="0"/>
                <a:ea typeface="Aptos Display" pitchFamily="34" charset="-122"/>
                <a:cs typeface="Aptos Display" pitchFamily="34" charset="-120"/>
              </a:rPr>
              <a:t>A student can miss an opportunity even after the notice reached them.</a:t>
            </a:r>
            <a:endParaRPr lang="en-US" sz="2600" dirty="0"/>
          </a:p>
        </p:txBody>
      </p:sp>
      <p:sp>
        <p:nvSpPr>
          <p:cNvPr id="14" name="Text 12"/>
          <p:cNvSpPr txBox="1"/>
          <p:nvPr/>
        </p:nvSpPr>
        <p:spPr>
          <a:xfrm>
            <a:off x="877824" y="5358384"/>
            <a:ext cx="9601200" cy="320040"/>
          </a:xfrm>
          <a:prstGeom prst="rect">
            <a:avLst/>
          </a:prstGeom>
          <a:noFill/>
          <a:ln/>
        </p:spPr>
        <p:txBody>
          <a:bodyPr wrap="square" lIns="0" tIns="0" rIns="0" bIns="0" rtlCol="0" anchor="ctr">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CampusSignal addresses the workflow gap; it does not claim to solve every campus communication problem.</a:t>
            </a:r>
            <a:endParaRPr lang="en-US" sz="13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THE PRODUCT</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One workspace connects discovery, tracking and collaboration</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CampusSignal gives a student three focused actions after an opportunity appears.</a:t>
            </a:r>
            <a:endParaRPr lang="en-US" sz="1500" dirty="0"/>
          </a:p>
        </p:txBody>
      </p:sp>
      <p:sp>
        <p:nvSpPr>
          <p:cNvPr id="5" name="Text 3"/>
          <p:cNvSpPr txBox="1"/>
          <p:nvPr/>
        </p:nvSpPr>
        <p:spPr>
          <a:xfrm>
            <a:off x="868680" y="2221992"/>
            <a:ext cx="512064" cy="384048"/>
          </a:xfrm>
          <a:prstGeom prst="rect">
            <a:avLst/>
          </a:prstGeom>
          <a:noFill/>
          <a:ln/>
        </p:spPr>
        <p:txBody>
          <a:bodyPr wrap="square" lIns="0" tIns="0" rIns="0" bIns="0" rtlCol="0" anchor="ctr">
            <a:normAutofit/>
          </a:bodyPr>
          <a:lstStyle/>
          <a:p>
            <a:pPr algn="l" indent="0" marL="0">
              <a:lnSpc>
                <a:spcPct val="112000"/>
              </a:lnSpc>
              <a:buNone/>
            </a:pPr>
            <a:r>
              <a:rPr lang="en-US" sz="2100" b="1" dirty="0">
                <a:solidFill>
                  <a:srgbClr val="37D7E5"/>
                </a:solidFill>
                <a:latin typeface="Aptos Display" pitchFamily="34" charset="0"/>
                <a:ea typeface="Aptos Display" pitchFamily="34" charset="-122"/>
                <a:cs typeface="Aptos Display" pitchFamily="34" charset="-120"/>
              </a:rPr>
              <a:t>01</a:t>
            </a:r>
            <a:endParaRPr lang="en-US" sz="2100" dirty="0"/>
          </a:p>
        </p:txBody>
      </p:sp>
      <p:sp>
        <p:nvSpPr>
          <p:cNvPr id="6" name="Shape 4"/>
          <p:cNvSpPr/>
          <p:nvPr/>
        </p:nvSpPr>
        <p:spPr>
          <a:xfrm>
            <a:off x="868680" y="2761488"/>
            <a:ext cx="2788920" cy="0"/>
          </a:xfrm>
          <a:prstGeom prst="line">
            <a:avLst/>
          </a:prstGeom>
          <a:noFill/>
          <a:ln w="25400">
            <a:solidFill>
              <a:srgbClr val="37D7E5"/>
            </a:solidFill>
            <a:prstDash val="solid"/>
          </a:ln>
        </p:spPr>
      </p:sp>
      <p:sp>
        <p:nvSpPr>
          <p:cNvPr id="7" name="Text 5"/>
          <p:cNvSpPr txBox="1"/>
          <p:nvPr/>
        </p:nvSpPr>
        <p:spPr>
          <a:xfrm>
            <a:off x="868680" y="2999232"/>
            <a:ext cx="2907792" cy="237744"/>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37D7E5"/>
                </a:solidFill>
                <a:latin typeface="Aptos" pitchFamily="34" charset="0"/>
                <a:ea typeface="Aptos" pitchFamily="34" charset="-122"/>
                <a:cs typeface="Aptos" pitchFamily="34" charset="-120"/>
              </a:rPr>
              <a:t>UNDERSTAND</a:t>
            </a:r>
            <a:endParaRPr lang="en-US" sz="1000" dirty="0"/>
          </a:p>
        </p:txBody>
      </p:sp>
      <p:sp>
        <p:nvSpPr>
          <p:cNvPr id="8" name="Text 6"/>
          <p:cNvSpPr txBox="1"/>
          <p:nvPr/>
        </p:nvSpPr>
        <p:spPr>
          <a:xfrm>
            <a:off x="868680" y="3474720"/>
            <a:ext cx="2834640" cy="1261872"/>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Extract key fields from a pasted notice or uploaded poster/PDF, then review them.</a:t>
            </a:r>
            <a:endParaRPr lang="en-US" sz="1700" dirty="0"/>
          </a:p>
        </p:txBody>
      </p:sp>
      <p:sp>
        <p:nvSpPr>
          <p:cNvPr id="9" name="Text 7"/>
          <p:cNvSpPr txBox="1"/>
          <p:nvPr/>
        </p:nvSpPr>
        <p:spPr>
          <a:xfrm>
            <a:off x="4434840" y="2221992"/>
            <a:ext cx="512064" cy="384048"/>
          </a:xfrm>
          <a:prstGeom prst="rect">
            <a:avLst/>
          </a:prstGeom>
          <a:noFill/>
          <a:ln/>
        </p:spPr>
        <p:txBody>
          <a:bodyPr wrap="square" lIns="0" tIns="0" rIns="0" bIns="0" rtlCol="0" anchor="ctr">
            <a:normAutofit/>
          </a:bodyPr>
          <a:lstStyle/>
          <a:p>
            <a:pPr algn="l" indent="0" marL="0">
              <a:lnSpc>
                <a:spcPct val="112000"/>
              </a:lnSpc>
              <a:buNone/>
            </a:pPr>
            <a:r>
              <a:rPr lang="en-US" sz="2100" b="1" dirty="0">
                <a:solidFill>
                  <a:srgbClr val="4B83FF"/>
                </a:solidFill>
                <a:latin typeface="Aptos Display" pitchFamily="34" charset="0"/>
                <a:ea typeface="Aptos Display" pitchFamily="34" charset="-122"/>
                <a:cs typeface="Aptos Display" pitchFamily="34" charset="-120"/>
              </a:rPr>
              <a:t>02</a:t>
            </a:r>
            <a:endParaRPr lang="en-US" sz="2100" dirty="0"/>
          </a:p>
        </p:txBody>
      </p:sp>
      <p:sp>
        <p:nvSpPr>
          <p:cNvPr id="10" name="Shape 8"/>
          <p:cNvSpPr/>
          <p:nvPr/>
        </p:nvSpPr>
        <p:spPr>
          <a:xfrm>
            <a:off x="4434840" y="2761488"/>
            <a:ext cx="2788920" cy="0"/>
          </a:xfrm>
          <a:prstGeom prst="line">
            <a:avLst/>
          </a:prstGeom>
          <a:noFill/>
          <a:ln w="25400">
            <a:solidFill>
              <a:srgbClr val="4B83FF"/>
            </a:solidFill>
            <a:prstDash val="solid"/>
          </a:ln>
        </p:spPr>
      </p:sp>
      <p:sp>
        <p:nvSpPr>
          <p:cNvPr id="11" name="Text 9"/>
          <p:cNvSpPr txBox="1"/>
          <p:nvPr/>
        </p:nvSpPr>
        <p:spPr>
          <a:xfrm>
            <a:off x="4434840" y="2999232"/>
            <a:ext cx="2907792" cy="237744"/>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4B83FF"/>
                </a:solidFill>
                <a:latin typeface="Aptos" pitchFamily="34" charset="0"/>
                <a:ea typeface="Aptos" pitchFamily="34" charset="-122"/>
                <a:cs typeface="Aptos" pitchFamily="34" charset="-120"/>
              </a:rPr>
              <a:t>FOLLOW THROUGH</a:t>
            </a:r>
            <a:endParaRPr lang="en-US" sz="1000" dirty="0"/>
          </a:p>
        </p:txBody>
      </p:sp>
      <p:sp>
        <p:nvSpPr>
          <p:cNvPr id="12" name="Text 10"/>
          <p:cNvSpPr txBox="1"/>
          <p:nvPr/>
        </p:nvSpPr>
        <p:spPr>
          <a:xfrm>
            <a:off x="4434840" y="3474720"/>
            <a:ext cx="2834640" cy="1261872"/>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Browse the opportunity radar, track application status and see upcoming deadlines.</a:t>
            </a:r>
            <a:endParaRPr lang="en-US" sz="1700" dirty="0"/>
          </a:p>
        </p:txBody>
      </p:sp>
      <p:sp>
        <p:nvSpPr>
          <p:cNvPr id="13" name="Text 11"/>
          <p:cNvSpPr txBox="1"/>
          <p:nvPr/>
        </p:nvSpPr>
        <p:spPr>
          <a:xfrm>
            <a:off x="7982712" y="2221992"/>
            <a:ext cx="512064" cy="384048"/>
          </a:xfrm>
          <a:prstGeom prst="rect">
            <a:avLst/>
          </a:prstGeom>
          <a:noFill/>
          <a:ln/>
        </p:spPr>
        <p:txBody>
          <a:bodyPr wrap="square" lIns="0" tIns="0" rIns="0" bIns="0" rtlCol="0" anchor="ctr">
            <a:normAutofit/>
          </a:bodyPr>
          <a:lstStyle/>
          <a:p>
            <a:pPr algn="l" indent="0" marL="0">
              <a:lnSpc>
                <a:spcPct val="112000"/>
              </a:lnSpc>
              <a:buNone/>
            </a:pPr>
            <a:r>
              <a:rPr lang="en-US" sz="2100" b="1" dirty="0">
                <a:solidFill>
                  <a:srgbClr val="A985FF"/>
                </a:solidFill>
                <a:latin typeface="Aptos Display" pitchFamily="34" charset="0"/>
                <a:ea typeface="Aptos Display" pitchFamily="34" charset="-122"/>
                <a:cs typeface="Aptos Display" pitchFamily="34" charset="-120"/>
              </a:rPr>
              <a:t>03</a:t>
            </a:r>
            <a:endParaRPr lang="en-US" sz="2100" dirty="0"/>
          </a:p>
        </p:txBody>
      </p:sp>
      <p:sp>
        <p:nvSpPr>
          <p:cNvPr id="14" name="Shape 12"/>
          <p:cNvSpPr/>
          <p:nvPr/>
        </p:nvSpPr>
        <p:spPr>
          <a:xfrm>
            <a:off x="7982712" y="2761488"/>
            <a:ext cx="2788920" cy="0"/>
          </a:xfrm>
          <a:prstGeom prst="line">
            <a:avLst/>
          </a:prstGeom>
          <a:noFill/>
          <a:ln w="25400">
            <a:solidFill>
              <a:srgbClr val="A985FF"/>
            </a:solidFill>
            <a:prstDash val="solid"/>
          </a:ln>
        </p:spPr>
      </p:sp>
      <p:sp>
        <p:nvSpPr>
          <p:cNvPr id="15" name="Text 13"/>
          <p:cNvSpPr txBox="1"/>
          <p:nvPr/>
        </p:nvSpPr>
        <p:spPr>
          <a:xfrm>
            <a:off x="7982712" y="2999232"/>
            <a:ext cx="2907792" cy="237744"/>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A985FF"/>
                </a:solidFill>
                <a:latin typeface="Aptos" pitchFamily="34" charset="0"/>
                <a:ea typeface="Aptos" pitchFamily="34" charset="-122"/>
                <a:cs typeface="Aptos" pitchFamily="34" charset="-120"/>
              </a:rPr>
              <a:t>BUILD TOGETHER</a:t>
            </a:r>
            <a:endParaRPr lang="en-US" sz="1000" dirty="0"/>
          </a:p>
        </p:txBody>
      </p:sp>
      <p:sp>
        <p:nvSpPr>
          <p:cNvPr id="16" name="Text 14"/>
          <p:cNvSpPr txBox="1"/>
          <p:nvPr/>
        </p:nvSpPr>
        <p:spPr>
          <a:xfrm>
            <a:off x="7982712" y="3474720"/>
            <a:ext cx="2834640" cy="1261872"/>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Describe project needs and rank real student profiles that opted in to discovery.</a:t>
            </a:r>
            <a:endParaRPr lang="en-US" sz="1700" dirty="0"/>
          </a:p>
        </p:txBody>
      </p:sp>
      <p:sp>
        <p:nvSpPr>
          <p:cNvPr id="17" name="Text 15"/>
          <p:cNvSpPr txBox="1"/>
          <p:nvPr/>
        </p:nvSpPr>
        <p:spPr>
          <a:xfrm>
            <a:off x="868680" y="5230368"/>
            <a:ext cx="8046720" cy="438912"/>
          </a:xfrm>
          <a:prstGeom prst="rect">
            <a:avLst/>
          </a:prstGeom>
          <a:noFill/>
          <a:ln/>
        </p:spPr>
        <p:txBody>
          <a:bodyPr wrap="square" lIns="0" tIns="0" rIns="0" bIns="0" rtlCol="0" anchor="ctr">
            <a:normAutofit/>
          </a:bodyPr>
          <a:lstStyle/>
          <a:p>
            <a:pPr algn="l" indent="0" marL="0">
              <a:lnSpc>
                <a:spcPct val="112000"/>
              </a:lnSpc>
              <a:buNone/>
            </a:pPr>
            <a:r>
              <a:rPr lang="en-US" sz="2100" b="1" dirty="0">
                <a:solidFill>
                  <a:srgbClr val="A8B5C9"/>
                </a:solidFill>
                <a:latin typeface="Aptos Display" pitchFamily="34" charset="0"/>
                <a:ea typeface="Aptos Display" pitchFamily="34" charset="-122"/>
                <a:cs typeface="Aptos Display" pitchFamily="34" charset="-120"/>
              </a:rPr>
              <a:t>Student stays in control at each step</a:t>
            </a:r>
            <a:endParaRPr lang="en-US" sz="2100" dirty="0"/>
          </a:p>
        </p:txBody>
      </p:sp>
      <p:sp>
        <p:nvSpPr>
          <p:cNvPr id="18" name="Text 16"/>
          <p:cNvSpPr txBox="1"/>
          <p:nvPr/>
        </p:nvSpPr>
        <p:spPr>
          <a:xfrm>
            <a:off x="877824" y="5669280"/>
            <a:ext cx="9829800" cy="32004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AI extracts and explains; the student reviews, saves and chooses whether to share a profile.</a:t>
            </a:r>
            <a:endParaRPr lang="en-US" sz="15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END-TO-END FLOW</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From a notice to a next action</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A single record carries the deadline, eligibility and source into the student’s workflow.</a:t>
            </a:r>
            <a:endParaRPr lang="en-US" sz="1500" dirty="0"/>
          </a:p>
        </p:txBody>
      </p:sp>
      <p:sp>
        <p:nvSpPr>
          <p:cNvPr id="5" name="Text 3"/>
          <p:cNvSpPr txBox="1"/>
          <p:nvPr/>
        </p:nvSpPr>
        <p:spPr>
          <a:xfrm>
            <a:off x="685800" y="2423160"/>
            <a:ext cx="411480"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37D7E5"/>
                </a:solidFill>
                <a:latin typeface="Aptos" pitchFamily="34" charset="0"/>
                <a:ea typeface="Aptos" pitchFamily="34" charset="-122"/>
                <a:cs typeface="Aptos" pitchFamily="34" charset="-120"/>
              </a:rPr>
              <a:t>01</a:t>
            </a:r>
            <a:endParaRPr lang="en-US" sz="1300" dirty="0"/>
          </a:p>
        </p:txBody>
      </p:sp>
      <p:sp>
        <p:nvSpPr>
          <p:cNvPr id="6" name="Text 4"/>
          <p:cNvSpPr txBox="1"/>
          <p:nvPr/>
        </p:nvSpPr>
        <p:spPr>
          <a:xfrm>
            <a:off x="685800" y="2816352"/>
            <a:ext cx="1737360" cy="256032"/>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F2F6FC"/>
                </a:solidFill>
                <a:latin typeface="Aptos" pitchFamily="34" charset="0"/>
                <a:ea typeface="Aptos" pitchFamily="34" charset="-122"/>
                <a:cs typeface="Aptos" pitchFamily="34" charset="-120"/>
              </a:rPr>
              <a:t>INPUT</a:t>
            </a:r>
            <a:endParaRPr lang="en-US" sz="1000" dirty="0"/>
          </a:p>
        </p:txBody>
      </p:sp>
      <p:sp>
        <p:nvSpPr>
          <p:cNvPr id="7" name="Text 5"/>
          <p:cNvSpPr txBox="1"/>
          <p:nvPr/>
        </p:nvSpPr>
        <p:spPr>
          <a:xfrm>
            <a:off x="685800" y="3236976"/>
            <a:ext cx="1627632" cy="80467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Paste a message</a:t>
            </a:r>
            <a:endParaRPr lang="en-US" sz="1500" dirty="0"/>
          </a:p>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or upload a file</a:t>
            </a:r>
            <a:endParaRPr lang="en-US" sz="1500" dirty="0"/>
          </a:p>
        </p:txBody>
      </p:sp>
      <p:sp>
        <p:nvSpPr>
          <p:cNvPr id="8" name="Text 6"/>
          <p:cNvSpPr txBox="1"/>
          <p:nvPr/>
        </p:nvSpPr>
        <p:spPr>
          <a:xfrm>
            <a:off x="2441448" y="2999232"/>
            <a:ext cx="347472" cy="384048"/>
          </a:xfrm>
          <a:prstGeom prst="rect">
            <a:avLst/>
          </a:prstGeom>
          <a:noFill/>
          <a:ln/>
        </p:spPr>
        <p:txBody>
          <a:bodyPr wrap="square" lIns="0" tIns="0" rIns="0" bIns="0" rtlCol="0" anchor="ctr">
            <a:normAutofit/>
          </a:bodyPr>
          <a:lstStyle/>
          <a:p>
            <a:pPr algn="ctr" indent="0" marL="0">
              <a:lnSpc>
                <a:spcPct val="112000"/>
              </a:lnSpc>
              <a:buNone/>
            </a:pPr>
            <a:r>
              <a:rPr lang="en-US" sz="2300" dirty="0">
                <a:solidFill>
                  <a:srgbClr val="74839B"/>
                </a:solidFill>
                <a:latin typeface="Aptos" pitchFamily="34" charset="0"/>
                <a:ea typeface="Aptos" pitchFamily="34" charset="-122"/>
                <a:cs typeface="Aptos" pitchFamily="34" charset="-120"/>
              </a:rPr>
              <a:t>→</a:t>
            </a:r>
            <a:endParaRPr lang="en-US" sz="2300" dirty="0"/>
          </a:p>
        </p:txBody>
      </p:sp>
      <p:sp>
        <p:nvSpPr>
          <p:cNvPr id="9" name="Text 7"/>
          <p:cNvSpPr txBox="1"/>
          <p:nvPr/>
        </p:nvSpPr>
        <p:spPr>
          <a:xfrm>
            <a:off x="2971800" y="2423160"/>
            <a:ext cx="411480"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37D7E5"/>
                </a:solidFill>
                <a:latin typeface="Aptos" pitchFamily="34" charset="0"/>
                <a:ea typeface="Aptos" pitchFamily="34" charset="-122"/>
                <a:cs typeface="Aptos" pitchFamily="34" charset="-120"/>
              </a:rPr>
              <a:t>02</a:t>
            </a:r>
            <a:endParaRPr lang="en-US" sz="1300" dirty="0"/>
          </a:p>
        </p:txBody>
      </p:sp>
      <p:sp>
        <p:nvSpPr>
          <p:cNvPr id="10" name="Text 8"/>
          <p:cNvSpPr txBox="1"/>
          <p:nvPr/>
        </p:nvSpPr>
        <p:spPr>
          <a:xfrm>
            <a:off x="2971800" y="2816352"/>
            <a:ext cx="1737360" cy="256032"/>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F2F6FC"/>
                </a:solidFill>
                <a:latin typeface="Aptos" pitchFamily="34" charset="0"/>
                <a:ea typeface="Aptos" pitchFamily="34" charset="-122"/>
                <a:cs typeface="Aptos" pitchFamily="34" charset="-120"/>
              </a:rPr>
              <a:t>EXTRACT</a:t>
            </a:r>
            <a:endParaRPr lang="en-US" sz="1000" dirty="0"/>
          </a:p>
        </p:txBody>
      </p:sp>
      <p:sp>
        <p:nvSpPr>
          <p:cNvPr id="11" name="Text 9"/>
          <p:cNvSpPr txBox="1"/>
          <p:nvPr/>
        </p:nvSpPr>
        <p:spPr>
          <a:xfrm>
            <a:off x="2971800" y="3236976"/>
            <a:ext cx="1627632" cy="80467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Gemini returns</a:t>
            </a:r>
            <a:endParaRPr lang="en-US" sz="1500" dirty="0"/>
          </a:p>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typed fields</a:t>
            </a:r>
            <a:endParaRPr lang="en-US" sz="1500" dirty="0"/>
          </a:p>
        </p:txBody>
      </p:sp>
      <p:sp>
        <p:nvSpPr>
          <p:cNvPr id="12" name="Text 10"/>
          <p:cNvSpPr txBox="1"/>
          <p:nvPr/>
        </p:nvSpPr>
        <p:spPr>
          <a:xfrm>
            <a:off x="4727448" y="2999232"/>
            <a:ext cx="347472" cy="384048"/>
          </a:xfrm>
          <a:prstGeom prst="rect">
            <a:avLst/>
          </a:prstGeom>
          <a:noFill/>
          <a:ln/>
        </p:spPr>
        <p:txBody>
          <a:bodyPr wrap="square" lIns="0" tIns="0" rIns="0" bIns="0" rtlCol="0" anchor="ctr">
            <a:normAutofit/>
          </a:bodyPr>
          <a:lstStyle/>
          <a:p>
            <a:pPr algn="ctr" indent="0" marL="0">
              <a:lnSpc>
                <a:spcPct val="112000"/>
              </a:lnSpc>
              <a:buNone/>
            </a:pPr>
            <a:r>
              <a:rPr lang="en-US" sz="2300" dirty="0">
                <a:solidFill>
                  <a:srgbClr val="74839B"/>
                </a:solidFill>
                <a:latin typeface="Aptos" pitchFamily="34" charset="0"/>
                <a:ea typeface="Aptos" pitchFamily="34" charset="-122"/>
                <a:cs typeface="Aptos" pitchFamily="34" charset="-120"/>
              </a:rPr>
              <a:t>→</a:t>
            </a:r>
            <a:endParaRPr lang="en-US" sz="2300" dirty="0"/>
          </a:p>
        </p:txBody>
      </p:sp>
      <p:sp>
        <p:nvSpPr>
          <p:cNvPr id="13" name="Text 11"/>
          <p:cNvSpPr txBox="1"/>
          <p:nvPr/>
        </p:nvSpPr>
        <p:spPr>
          <a:xfrm>
            <a:off x="5257800" y="2423160"/>
            <a:ext cx="411480"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F7C15D"/>
                </a:solidFill>
                <a:latin typeface="Aptos" pitchFamily="34" charset="0"/>
                <a:ea typeface="Aptos" pitchFamily="34" charset="-122"/>
                <a:cs typeface="Aptos" pitchFamily="34" charset="-120"/>
              </a:rPr>
              <a:t>03</a:t>
            </a:r>
            <a:endParaRPr lang="en-US" sz="1300" dirty="0"/>
          </a:p>
        </p:txBody>
      </p:sp>
      <p:sp>
        <p:nvSpPr>
          <p:cNvPr id="14" name="Text 12"/>
          <p:cNvSpPr txBox="1"/>
          <p:nvPr/>
        </p:nvSpPr>
        <p:spPr>
          <a:xfrm>
            <a:off x="5257800" y="2816352"/>
            <a:ext cx="1737360" cy="256032"/>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F2F6FC"/>
                </a:solidFill>
                <a:latin typeface="Aptos" pitchFamily="34" charset="0"/>
                <a:ea typeface="Aptos" pitchFamily="34" charset="-122"/>
                <a:cs typeface="Aptos" pitchFamily="34" charset="-120"/>
              </a:rPr>
              <a:t>REVIEW</a:t>
            </a:r>
            <a:endParaRPr lang="en-US" sz="1000" dirty="0"/>
          </a:p>
        </p:txBody>
      </p:sp>
      <p:sp>
        <p:nvSpPr>
          <p:cNvPr id="15" name="Text 13"/>
          <p:cNvSpPr txBox="1"/>
          <p:nvPr/>
        </p:nvSpPr>
        <p:spPr>
          <a:xfrm>
            <a:off x="5257800" y="3236976"/>
            <a:ext cx="1627632" cy="80467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Student edits and</a:t>
            </a:r>
            <a:endParaRPr lang="en-US" sz="1500" dirty="0"/>
          </a:p>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confirms details</a:t>
            </a:r>
            <a:endParaRPr lang="en-US" sz="1500" dirty="0"/>
          </a:p>
        </p:txBody>
      </p:sp>
      <p:sp>
        <p:nvSpPr>
          <p:cNvPr id="16" name="Text 14"/>
          <p:cNvSpPr txBox="1"/>
          <p:nvPr/>
        </p:nvSpPr>
        <p:spPr>
          <a:xfrm>
            <a:off x="7013448" y="2999232"/>
            <a:ext cx="347472" cy="384048"/>
          </a:xfrm>
          <a:prstGeom prst="rect">
            <a:avLst/>
          </a:prstGeom>
          <a:noFill/>
          <a:ln/>
        </p:spPr>
        <p:txBody>
          <a:bodyPr wrap="square" lIns="0" tIns="0" rIns="0" bIns="0" rtlCol="0" anchor="ctr">
            <a:normAutofit/>
          </a:bodyPr>
          <a:lstStyle/>
          <a:p>
            <a:pPr algn="ctr" indent="0" marL="0">
              <a:lnSpc>
                <a:spcPct val="112000"/>
              </a:lnSpc>
              <a:buNone/>
            </a:pPr>
            <a:r>
              <a:rPr lang="en-US" sz="2300" dirty="0">
                <a:solidFill>
                  <a:srgbClr val="74839B"/>
                </a:solidFill>
                <a:latin typeface="Aptos" pitchFamily="34" charset="0"/>
                <a:ea typeface="Aptos" pitchFamily="34" charset="-122"/>
                <a:cs typeface="Aptos" pitchFamily="34" charset="-120"/>
              </a:rPr>
              <a:t>→</a:t>
            </a:r>
            <a:endParaRPr lang="en-US" sz="2300" dirty="0"/>
          </a:p>
        </p:txBody>
      </p:sp>
      <p:sp>
        <p:nvSpPr>
          <p:cNvPr id="17" name="Text 15"/>
          <p:cNvSpPr txBox="1"/>
          <p:nvPr/>
        </p:nvSpPr>
        <p:spPr>
          <a:xfrm>
            <a:off x="7543800" y="2423160"/>
            <a:ext cx="411480"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37D7E5"/>
                </a:solidFill>
                <a:latin typeface="Aptos" pitchFamily="34" charset="0"/>
                <a:ea typeface="Aptos" pitchFamily="34" charset="-122"/>
                <a:cs typeface="Aptos" pitchFamily="34" charset="-120"/>
              </a:rPr>
              <a:t>04</a:t>
            </a:r>
            <a:endParaRPr lang="en-US" sz="1300" dirty="0"/>
          </a:p>
        </p:txBody>
      </p:sp>
      <p:sp>
        <p:nvSpPr>
          <p:cNvPr id="18" name="Text 16"/>
          <p:cNvSpPr txBox="1"/>
          <p:nvPr/>
        </p:nvSpPr>
        <p:spPr>
          <a:xfrm>
            <a:off x="7543800" y="2816352"/>
            <a:ext cx="1737360" cy="256032"/>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F2F6FC"/>
                </a:solidFill>
                <a:latin typeface="Aptos" pitchFamily="34" charset="0"/>
                <a:ea typeface="Aptos" pitchFamily="34" charset="-122"/>
                <a:cs typeface="Aptos" pitchFamily="34" charset="-120"/>
              </a:rPr>
              <a:t>TRACK</a:t>
            </a:r>
            <a:endParaRPr lang="en-US" sz="1000" dirty="0"/>
          </a:p>
        </p:txBody>
      </p:sp>
      <p:sp>
        <p:nvSpPr>
          <p:cNvPr id="19" name="Text 17"/>
          <p:cNvSpPr txBox="1"/>
          <p:nvPr/>
        </p:nvSpPr>
        <p:spPr>
          <a:xfrm>
            <a:off x="7543800" y="3236976"/>
            <a:ext cx="1627632" cy="80467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Save to Radar;</a:t>
            </a:r>
            <a:endParaRPr lang="en-US" sz="1500" dirty="0"/>
          </a:p>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choose status</a:t>
            </a:r>
            <a:endParaRPr lang="en-US" sz="1500" dirty="0"/>
          </a:p>
        </p:txBody>
      </p:sp>
      <p:sp>
        <p:nvSpPr>
          <p:cNvPr id="20" name="Text 18"/>
          <p:cNvSpPr txBox="1"/>
          <p:nvPr/>
        </p:nvSpPr>
        <p:spPr>
          <a:xfrm>
            <a:off x="9299448" y="2999232"/>
            <a:ext cx="347472" cy="384048"/>
          </a:xfrm>
          <a:prstGeom prst="rect">
            <a:avLst/>
          </a:prstGeom>
          <a:noFill/>
          <a:ln/>
        </p:spPr>
        <p:txBody>
          <a:bodyPr wrap="square" lIns="0" tIns="0" rIns="0" bIns="0" rtlCol="0" anchor="ctr">
            <a:normAutofit/>
          </a:bodyPr>
          <a:lstStyle/>
          <a:p>
            <a:pPr algn="ctr" indent="0" marL="0">
              <a:lnSpc>
                <a:spcPct val="112000"/>
              </a:lnSpc>
              <a:buNone/>
            </a:pPr>
            <a:r>
              <a:rPr lang="en-US" sz="2300" dirty="0">
                <a:solidFill>
                  <a:srgbClr val="74839B"/>
                </a:solidFill>
                <a:latin typeface="Aptos" pitchFamily="34" charset="0"/>
                <a:ea typeface="Aptos" pitchFamily="34" charset="-122"/>
                <a:cs typeface="Aptos" pitchFamily="34" charset="-120"/>
              </a:rPr>
              <a:t>→</a:t>
            </a:r>
            <a:endParaRPr lang="en-US" sz="2300" dirty="0"/>
          </a:p>
        </p:txBody>
      </p:sp>
      <p:sp>
        <p:nvSpPr>
          <p:cNvPr id="21" name="Text 19"/>
          <p:cNvSpPr txBox="1"/>
          <p:nvPr/>
        </p:nvSpPr>
        <p:spPr>
          <a:xfrm>
            <a:off x="9829800" y="2423160"/>
            <a:ext cx="411480"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37D7E5"/>
                </a:solidFill>
                <a:latin typeface="Aptos" pitchFamily="34" charset="0"/>
                <a:ea typeface="Aptos" pitchFamily="34" charset="-122"/>
                <a:cs typeface="Aptos" pitchFamily="34" charset="-120"/>
              </a:rPr>
              <a:t>05</a:t>
            </a:r>
            <a:endParaRPr lang="en-US" sz="1300" dirty="0"/>
          </a:p>
        </p:txBody>
      </p:sp>
      <p:sp>
        <p:nvSpPr>
          <p:cNvPr id="22" name="Text 20"/>
          <p:cNvSpPr txBox="1"/>
          <p:nvPr/>
        </p:nvSpPr>
        <p:spPr>
          <a:xfrm>
            <a:off x="9829800" y="2816352"/>
            <a:ext cx="1737360" cy="256032"/>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F2F6FC"/>
                </a:solidFill>
                <a:latin typeface="Aptos" pitchFamily="34" charset="0"/>
                <a:ea typeface="Aptos" pitchFamily="34" charset="-122"/>
                <a:cs typeface="Aptos" pitchFamily="34" charset="-120"/>
              </a:rPr>
              <a:t>REMEMBER</a:t>
            </a:r>
            <a:endParaRPr lang="en-US" sz="1000" dirty="0"/>
          </a:p>
        </p:txBody>
      </p:sp>
      <p:sp>
        <p:nvSpPr>
          <p:cNvPr id="23" name="Text 21"/>
          <p:cNvSpPr txBox="1"/>
          <p:nvPr/>
        </p:nvSpPr>
        <p:spPr>
          <a:xfrm>
            <a:off x="9829800" y="3236976"/>
            <a:ext cx="1627632" cy="80467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Dashboard lists</a:t>
            </a:r>
            <a:endParaRPr lang="en-US" sz="1500" dirty="0"/>
          </a:p>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upcoming deadlines</a:t>
            </a:r>
            <a:endParaRPr lang="en-US" sz="1500" dirty="0"/>
          </a:p>
        </p:txBody>
      </p:sp>
      <p:sp>
        <p:nvSpPr>
          <p:cNvPr id="24" name="Shape 22"/>
          <p:cNvSpPr/>
          <p:nvPr/>
        </p:nvSpPr>
        <p:spPr>
          <a:xfrm>
            <a:off x="731520" y="4498848"/>
            <a:ext cx="10561320" cy="0"/>
          </a:xfrm>
          <a:prstGeom prst="line">
            <a:avLst/>
          </a:prstGeom>
          <a:noFill/>
          <a:ln w="12700">
            <a:solidFill>
              <a:srgbClr val="243149"/>
            </a:solidFill>
            <a:prstDash val="solid"/>
          </a:ln>
        </p:spPr>
      </p:sp>
      <p:sp>
        <p:nvSpPr>
          <p:cNvPr id="25" name="Text 23"/>
          <p:cNvSpPr txBox="1"/>
          <p:nvPr/>
        </p:nvSpPr>
        <p:spPr>
          <a:xfrm>
            <a:off x="749808" y="4892040"/>
            <a:ext cx="10012680" cy="502920"/>
          </a:xfrm>
          <a:prstGeom prst="rect">
            <a:avLst/>
          </a:prstGeom>
          <a:noFill/>
          <a:ln/>
        </p:spPr>
        <p:txBody>
          <a:bodyPr wrap="square" lIns="0" tIns="0" rIns="0" bIns="0" rtlCol="0" anchor="ctr">
            <a:normAutofit/>
          </a:bodyPr>
          <a:lstStyle/>
          <a:p>
            <a:pPr algn="l" indent="0" marL="0">
              <a:lnSpc>
                <a:spcPct val="112000"/>
              </a:lnSpc>
              <a:buNone/>
            </a:pPr>
            <a:r>
              <a:rPr lang="en-US" sz="2200" b="1" dirty="0">
                <a:solidFill>
                  <a:srgbClr val="F2F6FC"/>
                </a:solidFill>
                <a:latin typeface="Aptos Display" pitchFamily="34" charset="0"/>
                <a:ea typeface="Aptos Display" pitchFamily="34" charset="-122"/>
                <a:cs typeface="Aptos Display" pitchFamily="34" charset="-120"/>
              </a:rPr>
              <a:t>Human review happens before the opportunity enters the shared feed.</a:t>
            </a:r>
            <a:endParaRPr lang="en-US" sz="2200" dirty="0"/>
          </a:p>
        </p:txBody>
      </p:sp>
      <p:sp>
        <p:nvSpPr>
          <p:cNvPr id="26" name="Text 24"/>
          <p:cNvSpPr txBox="1"/>
          <p:nvPr/>
        </p:nvSpPr>
        <p:spPr>
          <a:xfrm>
            <a:off x="768096" y="5486400"/>
            <a:ext cx="9784080" cy="329184"/>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F7C15D"/>
                </a:solidFill>
                <a:latin typeface="Aptos" pitchFamily="34" charset="0"/>
                <a:ea typeface="Aptos" pitchFamily="34" charset="-122"/>
                <a:cs typeface="Aptos" pitchFamily="34" charset="-120"/>
              </a:rPr>
              <a:t>No auto-application, auto-approval or automatic claim that a notice is authentic.</a:t>
            </a:r>
            <a:endParaRPr lang="en-US" sz="15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MODULE 1  /  NOTICE INTELLIGENCE</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Turn unstructured notices into reviewable fields</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Input: pasted WhatsApp text, poster image or PDF. Output: a structured opportunity draft.</a:t>
            </a:r>
            <a:endParaRPr lang="en-US" sz="1500" dirty="0"/>
          </a:p>
        </p:txBody>
      </p:sp>
      <p:sp>
        <p:nvSpPr>
          <p:cNvPr id="5" name="Text 3"/>
          <p:cNvSpPr txBox="1"/>
          <p:nvPr/>
        </p:nvSpPr>
        <p:spPr>
          <a:xfrm>
            <a:off x="877824" y="2212848"/>
            <a:ext cx="2286000" cy="219456"/>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37D7E5"/>
                </a:solidFill>
                <a:latin typeface="Aptos" pitchFamily="34" charset="0"/>
                <a:ea typeface="Aptos" pitchFamily="34" charset="-122"/>
                <a:cs typeface="Aptos" pitchFamily="34" charset="-120"/>
              </a:rPr>
              <a:t>EXTRACTED FIELDS</a:t>
            </a:r>
            <a:endParaRPr lang="en-US" sz="1000" dirty="0"/>
          </a:p>
        </p:txBody>
      </p:sp>
      <p:sp>
        <p:nvSpPr>
          <p:cNvPr id="6" name="Text 4"/>
          <p:cNvSpPr txBox="1"/>
          <p:nvPr/>
        </p:nvSpPr>
        <p:spPr>
          <a:xfrm>
            <a:off x="896112" y="2697480"/>
            <a:ext cx="256032" cy="256032"/>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37D7E5"/>
                </a:solidFill>
                <a:latin typeface="Aptos" pitchFamily="34" charset="0"/>
                <a:ea typeface="Aptos" pitchFamily="34" charset="-122"/>
                <a:cs typeface="Aptos" pitchFamily="34" charset="-120"/>
              </a:rPr>
              <a:t>—</a:t>
            </a:r>
            <a:endParaRPr lang="en-US" sz="1800" dirty="0"/>
          </a:p>
        </p:txBody>
      </p:sp>
      <p:sp>
        <p:nvSpPr>
          <p:cNvPr id="7" name="Text 5"/>
          <p:cNvSpPr txBox="1"/>
          <p:nvPr/>
        </p:nvSpPr>
        <p:spPr>
          <a:xfrm>
            <a:off x="1261872" y="2697480"/>
            <a:ext cx="4526280" cy="384048"/>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Title + organization</a:t>
            </a:r>
            <a:endParaRPr lang="en-US" sz="1700" dirty="0"/>
          </a:p>
        </p:txBody>
      </p:sp>
      <p:sp>
        <p:nvSpPr>
          <p:cNvPr id="8" name="Text 6"/>
          <p:cNvSpPr txBox="1"/>
          <p:nvPr/>
        </p:nvSpPr>
        <p:spPr>
          <a:xfrm>
            <a:off x="896112" y="3392424"/>
            <a:ext cx="256032" cy="256032"/>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37D7E5"/>
                </a:solidFill>
                <a:latin typeface="Aptos" pitchFamily="34" charset="0"/>
                <a:ea typeface="Aptos" pitchFamily="34" charset="-122"/>
                <a:cs typeface="Aptos" pitchFamily="34" charset="-120"/>
              </a:rPr>
              <a:t>—</a:t>
            </a:r>
            <a:endParaRPr lang="en-US" sz="1800" dirty="0"/>
          </a:p>
        </p:txBody>
      </p:sp>
      <p:sp>
        <p:nvSpPr>
          <p:cNvPr id="9" name="Text 7"/>
          <p:cNvSpPr txBox="1"/>
          <p:nvPr/>
        </p:nvSpPr>
        <p:spPr>
          <a:xfrm>
            <a:off x="1261872" y="3392424"/>
            <a:ext cx="4526280" cy="384048"/>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Category + location</a:t>
            </a:r>
            <a:endParaRPr lang="en-US" sz="1700" dirty="0"/>
          </a:p>
        </p:txBody>
      </p:sp>
      <p:sp>
        <p:nvSpPr>
          <p:cNvPr id="10" name="Text 8"/>
          <p:cNvSpPr txBox="1"/>
          <p:nvPr/>
        </p:nvSpPr>
        <p:spPr>
          <a:xfrm>
            <a:off x="896112" y="4087368"/>
            <a:ext cx="256032" cy="256032"/>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37D7E5"/>
                </a:solidFill>
                <a:latin typeface="Aptos" pitchFamily="34" charset="0"/>
                <a:ea typeface="Aptos" pitchFamily="34" charset="-122"/>
                <a:cs typeface="Aptos" pitchFamily="34" charset="-120"/>
              </a:rPr>
              <a:t>—</a:t>
            </a:r>
            <a:endParaRPr lang="en-US" sz="1800" dirty="0"/>
          </a:p>
        </p:txBody>
      </p:sp>
      <p:sp>
        <p:nvSpPr>
          <p:cNvPr id="11" name="Text 9"/>
          <p:cNvSpPr txBox="1"/>
          <p:nvPr/>
        </p:nvSpPr>
        <p:spPr>
          <a:xfrm>
            <a:off x="1261872" y="4087368"/>
            <a:ext cx="4526280" cy="384048"/>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Deadline + event date</a:t>
            </a:r>
            <a:endParaRPr lang="en-US" sz="1700" dirty="0"/>
          </a:p>
        </p:txBody>
      </p:sp>
      <p:sp>
        <p:nvSpPr>
          <p:cNvPr id="12" name="Text 10"/>
          <p:cNvSpPr txBox="1"/>
          <p:nvPr/>
        </p:nvSpPr>
        <p:spPr>
          <a:xfrm>
            <a:off x="6144768" y="2697480"/>
            <a:ext cx="256032" cy="256032"/>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A985FF"/>
                </a:solidFill>
                <a:latin typeface="Aptos" pitchFamily="34" charset="0"/>
                <a:ea typeface="Aptos" pitchFamily="34" charset="-122"/>
                <a:cs typeface="Aptos" pitchFamily="34" charset="-120"/>
              </a:rPr>
              <a:t>—</a:t>
            </a:r>
            <a:endParaRPr lang="en-US" sz="1800" dirty="0"/>
          </a:p>
        </p:txBody>
      </p:sp>
      <p:sp>
        <p:nvSpPr>
          <p:cNvPr id="13" name="Text 11"/>
          <p:cNvSpPr txBox="1"/>
          <p:nvPr/>
        </p:nvSpPr>
        <p:spPr>
          <a:xfrm>
            <a:off x="6510528" y="2697480"/>
            <a:ext cx="4526280" cy="384048"/>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Eligibility + required skills</a:t>
            </a:r>
            <a:endParaRPr lang="en-US" sz="1700" dirty="0"/>
          </a:p>
        </p:txBody>
      </p:sp>
      <p:sp>
        <p:nvSpPr>
          <p:cNvPr id="14" name="Text 12"/>
          <p:cNvSpPr txBox="1"/>
          <p:nvPr/>
        </p:nvSpPr>
        <p:spPr>
          <a:xfrm>
            <a:off x="6144768" y="3392424"/>
            <a:ext cx="256032" cy="256032"/>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A985FF"/>
                </a:solidFill>
                <a:latin typeface="Aptos" pitchFamily="34" charset="0"/>
                <a:ea typeface="Aptos" pitchFamily="34" charset="-122"/>
                <a:cs typeface="Aptos" pitchFamily="34" charset="-120"/>
              </a:rPr>
              <a:t>—</a:t>
            </a:r>
            <a:endParaRPr lang="en-US" sz="1800" dirty="0"/>
          </a:p>
        </p:txBody>
      </p:sp>
      <p:sp>
        <p:nvSpPr>
          <p:cNvPr id="15" name="Text 13"/>
          <p:cNvSpPr txBox="1"/>
          <p:nvPr/>
        </p:nvSpPr>
        <p:spPr>
          <a:xfrm>
            <a:off x="6510528" y="3392424"/>
            <a:ext cx="4526280" cy="384048"/>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Registration URL</a:t>
            </a:r>
            <a:endParaRPr lang="en-US" sz="1700" dirty="0"/>
          </a:p>
        </p:txBody>
      </p:sp>
      <p:sp>
        <p:nvSpPr>
          <p:cNvPr id="16" name="Text 14"/>
          <p:cNvSpPr txBox="1"/>
          <p:nvPr/>
        </p:nvSpPr>
        <p:spPr>
          <a:xfrm>
            <a:off x="6144768" y="4087368"/>
            <a:ext cx="256032" cy="256032"/>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A985FF"/>
                </a:solidFill>
                <a:latin typeface="Aptos" pitchFamily="34" charset="0"/>
                <a:ea typeface="Aptos" pitchFamily="34" charset="-122"/>
                <a:cs typeface="Aptos" pitchFamily="34" charset="-120"/>
              </a:rPr>
              <a:t>—</a:t>
            </a:r>
            <a:endParaRPr lang="en-US" sz="1800" dirty="0"/>
          </a:p>
        </p:txBody>
      </p:sp>
      <p:sp>
        <p:nvSpPr>
          <p:cNvPr id="17" name="Text 15"/>
          <p:cNvSpPr txBox="1"/>
          <p:nvPr/>
        </p:nvSpPr>
        <p:spPr>
          <a:xfrm>
            <a:off x="6510528" y="4087368"/>
            <a:ext cx="4526280" cy="384048"/>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Documents + instructions</a:t>
            </a:r>
            <a:endParaRPr lang="en-US" sz="1700" dirty="0"/>
          </a:p>
        </p:txBody>
      </p:sp>
      <p:sp>
        <p:nvSpPr>
          <p:cNvPr id="18" name="Shape 16"/>
          <p:cNvSpPr/>
          <p:nvPr/>
        </p:nvSpPr>
        <p:spPr>
          <a:xfrm>
            <a:off x="896112" y="5065776"/>
            <a:ext cx="10259568" cy="0"/>
          </a:xfrm>
          <a:prstGeom prst="line">
            <a:avLst/>
          </a:prstGeom>
          <a:noFill/>
          <a:ln w="12700">
            <a:solidFill>
              <a:srgbClr val="243149"/>
            </a:solidFill>
            <a:prstDash val="solid"/>
          </a:ln>
        </p:spPr>
      </p:sp>
      <p:sp>
        <p:nvSpPr>
          <p:cNvPr id="19" name="Text 17"/>
          <p:cNvSpPr txBox="1"/>
          <p:nvPr/>
        </p:nvSpPr>
        <p:spPr>
          <a:xfrm>
            <a:off x="905256" y="5330952"/>
            <a:ext cx="2194560" cy="292608"/>
          </a:xfrm>
          <a:prstGeom prst="rect">
            <a:avLst/>
          </a:prstGeom>
          <a:noFill/>
          <a:ln/>
        </p:spPr>
        <p:txBody>
          <a:bodyPr wrap="square" lIns="0" tIns="0" rIns="0" bIns="0" rtlCol="0" anchor="ctr">
            <a:normAutofit/>
          </a:bodyPr>
          <a:lstStyle/>
          <a:p>
            <a:pPr algn="l" indent="0" marL="0">
              <a:lnSpc>
                <a:spcPct val="112000"/>
              </a:lnSpc>
              <a:buNone/>
            </a:pPr>
            <a:r>
              <a:rPr lang="en-US" sz="1700" b="1" dirty="0">
                <a:solidFill>
                  <a:srgbClr val="F7C15D"/>
                </a:solidFill>
                <a:latin typeface="Aptos Display" pitchFamily="34" charset="0"/>
                <a:ea typeface="Aptos Display" pitchFamily="34" charset="-122"/>
                <a:cs typeface="Aptos Display" pitchFamily="34" charset="-120"/>
              </a:rPr>
              <a:t>Validation + review</a:t>
            </a:r>
            <a:endParaRPr lang="en-US" sz="1700" dirty="0"/>
          </a:p>
        </p:txBody>
      </p:sp>
      <p:sp>
        <p:nvSpPr>
          <p:cNvPr id="20" name="Text 18"/>
          <p:cNvSpPr txBox="1"/>
          <p:nvPr/>
        </p:nvSpPr>
        <p:spPr>
          <a:xfrm>
            <a:off x="3246120" y="5285232"/>
            <a:ext cx="7726680" cy="530352"/>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Schema checks catch malformed output; unknown details stay marked for checking instead of being treated as confirmed.</a:t>
            </a:r>
            <a:endParaRPr lang="en-US" sz="15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MODULE 2  /  RADAR + DEADLINES</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Keep opportunities actionable after extraction</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The radar is a shared, searchable database view with a personal tracking layer.</a:t>
            </a:r>
            <a:endParaRPr lang="en-US" sz="1500" dirty="0"/>
          </a:p>
        </p:txBody>
      </p:sp>
      <p:sp>
        <p:nvSpPr>
          <p:cNvPr id="5" name="Text 3"/>
          <p:cNvSpPr txBox="1"/>
          <p:nvPr/>
        </p:nvSpPr>
        <p:spPr>
          <a:xfrm>
            <a:off x="676656" y="2258568"/>
            <a:ext cx="2834640" cy="201168"/>
          </a:xfrm>
          <a:prstGeom prst="rect">
            <a:avLst/>
          </a:prstGeom>
          <a:noFill/>
          <a:ln/>
        </p:spPr>
        <p:txBody>
          <a:bodyPr wrap="square" lIns="0" tIns="0" rIns="0" bIns="0" rtlCol="0" anchor="ctr">
            <a:normAutofit/>
          </a:bodyPr>
          <a:lstStyle/>
          <a:p>
            <a:pPr algn="l" indent="0" marL="0">
              <a:lnSpc>
                <a:spcPct val="112000"/>
              </a:lnSpc>
              <a:buNone/>
            </a:pPr>
            <a:r>
              <a:rPr lang="en-US" sz="900" b="1" spc="110" kern="0" dirty="0">
                <a:solidFill>
                  <a:srgbClr val="37D7E5"/>
                </a:solidFill>
                <a:latin typeface="Aptos" pitchFamily="34" charset="0"/>
                <a:ea typeface="Aptos" pitchFamily="34" charset="-122"/>
                <a:cs typeface="Aptos" pitchFamily="34" charset="-120"/>
              </a:rPr>
              <a:t>OPPORTUNITY FEED</a:t>
            </a:r>
            <a:endParaRPr lang="en-US" sz="900" dirty="0"/>
          </a:p>
        </p:txBody>
      </p:sp>
      <p:sp>
        <p:nvSpPr>
          <p:cNvPr id="6" name="Text 4"/>
          <p:cNvSpPr txBox="1"/>
          <p:nvPr/>
        </p:nvSpPr>
        <p:spPr>
          <a:xfrm>
            <a:off x="3657600" y="2240280"/>
            <a:ext cx="7772400" cy="292608"/>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Search and filter by title, organization, skill, category and source label.</a:t>
            </a:r>
            <a:endParaRPr lang="en-US" sz="1500" dirty="0"/>
          </a:p>
        </p:txBody>
      </p:sp>
      <p:sp>
        <p:nvSpPr>
          <p:cNvPr id="7" name="Text 5"/>
          <p:cNvSpPr txBox="1"/>
          <p:nvPr/>
        </p:nvSpPr>
        <p:spPr>
          <a:xfrm>
            <a:off x="676656" y="2990088"/>
            <a:ext cx="2834640" cy="201168"/>
          </a:xfrm>
          <a:prstGeom prst="rect">
            <a:avLst/>
          </a:prstGeom>
          <a:noFill/>
          <a:ln/>
        </p:spPr>
        <p:txBody>
          <a:bodyPr wrap="square" lIns="0" tIns="0" rIns="0" bIns="0" rtlCol="0" anchor="ctr">
            <a:normAutofit/>
          </a:bodyPr>
          <a:lstStyle/>
          <a:p>
            <a:pPr algn="l" indent="0" marL="0">
              <a:lnSpc>
                <a:spcPct val="112000"/>
              </a:lnSpc>
              <a:buNone/>
            </a:pPr>
            <a:r>
              <a:rPr lang="en-US" sz="900" b="1" spc="110" kern="0" dirty="0">
                <a:solidFill>
                  <a:srgbClr val="4B83FF"/>
                </a:solidFill>
                <a:latin typeface="Aptos" pitchFamily="34" charset="0"/>
                <a:ea typeface="Aptos" pitchFamily="34" charset="-122"/>
                <a:cs typeface="Aptos" pitchFamily="34" charset="-120"/>
              </a:rPr>
              <a:t>APPLICATION STATUS</a:t>
            </a:r>
            <a:endParaRPr lang="en-US" sz="900" dirty="0"/>
          </a:p>
        </p:txBody>
      </p:sp>
      <p:sp>
        <p:nvSpPr>
          <p:cNvPr id="8" name="Text 6"/>
          <p:cNvSpPr txBox="1"/>
          <p:nvPr/>
        </p:nvSpPr>
        <p:spPr>
          <a:xfrm>
            <a:off x="3657600" y="2971800"/>
            <a:ext cx="7772400" cy="292608"/>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Track each opportunity as Interested, Applied or Completed.</a:t>
            </a:r>
            <a:endParaRPr lang="en-US" sz="1500" dirty="0"/>
          </a:p>
        </p:txBody>
      </p:sp>
      <p:sp>
        <p:nvSpPr>
          <p:cNvPr id="9" name="Text 7"/>
          <p:cNvSpPr txBox="1"/>
          <p:nvPr/>
        </p:nvSpPr>
        <p:spPr>
          <a:xfrm>
            <a:off x="676656" y="3721608"/>
            <a:ext cx="2834640" cy="201168"/>
          </a:xfrm>
          <a:prstGeom prst="rect">
            <a:avLst/>
          </a:prstGeom>
          <a:noFill/>
          <a:ln/>
        </p:spPr>
        <p:txBody>
          <a:bodyPr wrap="square" lIns="0" tIns="0" rIns="0" bIns="0" rtlCol="0" anchor="ctr">
            <a:normAutofit/>
          </a:bodyPr>
          <a:lstStyle/>
          <a:p>
            <a:pPr algn="l" indent="0" marL="0">
              <a:lnSpc>
                <a:spcPct val="112000"/>
              </a:lnSpc>
              <a:buNone/>
            </a:pPr>
            <a:r>
              <a:rPr lang="en-US" sz="900" b="1" spc="110" kern="0" dirty="0">
                <a:solidFill>
                  <a:srgbClr val="A985FF"/>
                </a:solidFill>
                <a:latin typeface="Aptos" pitchFamily="34" charset="0"/>
                <a:ea typeface="Aptos" pitchFamily="34" charset="-122"/>
                <a:cs typeface="Aptos" pitchFamily="34" charset="-120"/>
              </a:rPr>
              <a:t>DEADLINE REMINDERS</a:t>
            </a:r>
            <a:endParaRPr lang="en-US" sz="900" dirty="0"/>
          </a:p>
        </p:txBody>
      </p:sp>
      <p:sp>
        <p:nvSpPr>
          <p:cNvPr id="10" name="Text 8"/>
          <p:cNvSpPr txBox="1"/>
          <p:nvPr/>
        </p:nvSpPr>
        <p:spPr>
          <a:xfrm>
            <a:off x="3657600" y="3703320"/>
            <a:ext cx="7772400" cy="292608"/>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Saved opportunities appear on the dashboard; browser alerts are offered at 2 days and 1 day.</a:t>
            </a:r>
            <a:endParaRPr lang="en-US" sz="1500" dirty="0"/>
          </a:p>
        </p:txBody>
      </p:sp>
      <p:sp>
        <p:nvSpPr>
          <p:cNvPr id="11" name="Shape 9"/>
          <p:cNvSpPr/>
          <p:nvPr/>
        </p:nvSpPr>
        <p:spPr>
          <a:xfrm>
            <a:off x="685800" y="4453128"/>
            <a:ext cx="10515600" cy="0"/>
          </a:xfrm>
          <a:prstGeom prst="line">
            <a:avLst/>
          </a:prstGeom>
          <a:noFill/>
          <a:ln w="12700">
            <a:solidFill>
              <a:srgbClr val="243149"/>
            </a:solidFill>
            <a:prstDash val="solid"/>
          </a:ln>
        </p:spPr>
      </p:sp>
      <p:sp>
        <p:nvSpPr>
          <p:cNvPr id="12" name="Text 10"/>
          <p:cNvSpPr txBox="1"/>
          <p:nvPr/>
        </p:nvSpPr>
        <p:spPr>
          <a:xfrm>
            <a:off x="713232" y="4791456"/>
            <a:ext cx="8778240" cy="420624"/>
          </a:xfrm>
          <a:prstGeom prst="rect">
            <a:avLst/>
          </a:prstGeom>
          <a:noFill/>
          <a:ln/>
        </p:spPr>
        <p:txBody>
          <a:bodyPr wrap="square" lIns="0" tIns="0" rIns="0" bIns="0" rtlCol="0" anchor="ctr">
            <a:normAutofit/>
          </a:bodyPr>
          <a:lstStyle/>
          <a:p>
            <a:pPr algn="l" indent="0" marL="0">
              <a:lnSpc>
                <a:spcPct val="112000"/>
              </a:lnSpc>
              <a:buNone/>
            </a:pPr>
            <a:r>
              <a:rPr lang="en-US" sz="2100" b="1" dirty="0">
                <a:solidFill>
                  <a:srgbClr val="F2F6FC"/>
                </a:solidFill>
                <a:latin typeface="Aptos Display" pitchFamily="34" charset="0"/>
                <a:ea typeface="Aptos Display" pitchFamily="34" charset="-122"/>
                <a:cs typeface="Aptos Display" pitchFamily="34" charset="-120"/>
              </a:rPr>
              <a:t>Source labels describe how a record entered the system.</a:t>
            </a:r>
            <a:endParaRPr lang="en-US" sz="2100" dirty="0"/>
          </a:p>
        </p:txBody>
      </p:sp>
      <p:sp>
        <p:nvSpPr>
          <p:cNvPr id="13" name="Text 11"/>
          <p:cNvSpPr txBox="1"/>
          <p:nvPr/>
        </p:nvSpPr>
        <p:spPr>
          <a:xfrm>
            <a:off x="731520" y="5349240"/>
            <a:ext cx="9921240" cy="36576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F7C15D"/>
                </a:solidFill>
                <a:latin typeface="Aptos" pitchFamily="34" charset="0"/>
                <a:ea typeface="Aptos" pitchFamily="34" charset="-122"/>
                <a:cs typeface="Aptos" pitchFamily="34" charset="-120"/>
              </a:rPr>
              <a:t>“Officially sourced” is a provenance label, not an AI guarantee that every field is correct.</a:t>
            </a:r>
            <a:endParaRPr lang="en-US" sz="14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MODULE 3  /  TEAM MATCHER</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Recommend collaborators from opt-in student profiles</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The matcher combines a transparent score with a short explanation.</a:t>
            </a:r>
            <a:endParaRPr lang="en-US" sz="1500" dirty="0"/>
          </a:p>
        </p:txBody>
      </p:sp>
      <p:sp>
        <p:nvSpPr>
          <p:cNvPr id="5" name="Text 3"/>
          <p:cNvSpPr txBox="1"/>
          <p:nvPr/>
        </p:nvSpPr>
        <p:spPr>
          <a:xfrm>
            <a:off x="841248" y="2157984"/>
            <a:ext cx="438912"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37D7E5"/>
                </a:solidFill>
                <a:latin typeface="Aptos Display" pitchFamily="34" charset="0"/>
                <a:ea typeface="Aptos Display" pitchFamily="34" charset="-122"/>
                <a:cs typeface="Aptos Display" pitchFamily="34" charset="-120"/>
              </a:rPr>
              <a:t>01</a:t>
            </a:r>
            <a:endParaRPr lang="en-US" sz="1300" dirty="0"/>
          </a:p>
        </p:txBody>
      </p:sp>
      <p:sp>
        <p:nvSpPr>
          <p:cNvPr id="6" name="Text 4"/>
          <p:cNvSpPr txBox="1"/>
          <p:nvPr/>
        </p:nvSpPr>
        <p:spPr>
          <a:xfrm>
            <a:off x="1426464" y="2139696"/>
            <a:ext cx="4443984" cy="292608"/>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F2F6FC"/>
                </a:solidFill>
                <a:latin typeface="Aptos Display" pitchFamily="34" charset="0"/>
                <a:ea typeface="Aptos Display" pitchFamily="34" charset="-122"/>
                <a:cs typeface="Aptos Display" pitchFamily="34" charset="-120"/>
              </a:rPr>
              <a:t>Student profile</a:t>
            </a:r>
            <a:endParaRPr lang="en-US" sz="1800" dirty="0"/>
          </a:p>
        </p:txBody>
      </p:sp>
      <p:sp>
        <p:nvSpPr>
          <p:cNvPr id="7" name="Text 5"/>
          <p:cNvSpPr txBox="1"/>
          <p:nvPr/>
        </p:nvSpPr>
        <p:spPr>
          <a:xfrm>
            <a:off x="1426464" y="2514600"/>
            <a:ext cx="4352544" cy="66751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Skills, interests, experience and preferred roles form the candidate profile.</a:t>
            </a:r>
            <a:endParaRPr lang="en-US" sz="1500" dirty="0"/>
          </a:p>
        </p:txBody>
      </p:sp>
      <p:sp>
        <p:nvSpPr>
          <p:cNvPr id="8" name="Text 6"/>
          <p:cNvSpPr txBox="1"/>
          <p:nvPr/>
        </p:nvSpPr>
        <p:spPr>
          <a:xfrm>
            <a:off x="6263640" y="2157984"/>
            <a:ext cx="438912"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4B83FF"/>
                </a:solidFill>
                <a:latin typeface="Aptos Display" pitchFamily="34" charset="0"/>
                <a:ea typeface="Aptos Display" pitchFamily="34" charset="-122"/>
                <a:cs typeface="Aptos Display" pitchFamily="34" charset="-120"/>
              </a:rPr>
              <a:t>02</a:t>
            </a:r>
            <a:endParaRPr lang="en-US" sz="1300" dirty="0"/>
          </a:p>
        </p:txBody>
      </p:sp>
      <p:sp>
        <p:nvSpPr>
          <p:cNvPr id="9" name="Text 7"/>
          <p:cNvSpPr txBox="1"/>
          <p:nvPr/>
        </p:nvSpPr>
        <p:spPr>
          <a:xfrm>
            <a:off x="6848856" y="2139696"/>
            <a:ext cx="4398264" cy="292608"/>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F2F6FC"/>
                </a:solidFill>
                <a:latin typeface="Aptos Display" pitchFamily="34" charset="0"/>
                <a:ea typeface="Aptos Display" pitchFamily="34" charset="-122"/>
                <a:cs typeface="Aptos Display" pitchFamily="34" charset="-120"/>
              </a:rPr>
              <a:t>Project request</a:t>
            </a:r>
            <a:endParaRPr lang="en-US" sz="1800" dirty="0"/>
          </a:p>
        </p:txBody>
      </p:sp>
      <p:sp>
        <p:nvSpPr>
          <p:cNvPr id="10" name="Text 8"/>
          <p:cNvSpPr txBox="1"/>
          <p:nvPr/>
        </p:nvSpPr>
        <p:spPr>
          <a:xfrm>
            <a:off x="6848856" y="2514600"/>
            <a:ext cx="4306824" cy="66751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The requester describes needed skills or roles in plain language.</a:t>
            </a:r>
            <a:endParaRPr lang="en-US" sz="1500" dirty="0"/>
          </a:p>
        </p:txBody>
      </p:sp>
      <p:sp>
        <p:nvSpPr>
          <p:cNvPr id="11" name="Text 9"/>
          <p:cNvSpPr txBox="1"/>
          <p:nvPr/>
        </p:nvSpPr>
        <p:spPr>
          <a:xfrm>
            <a:off x="841248" y="3822192"/>
            <a:ext cx="438912"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A985FF"/>
                </a:solidFill>
                <a:latin typeface="Aptos Display" pitchFamily="34" charset="0"/>
                <a:ea typeface="Aptos Display" pitchFamily="34" charset="-122"/>
                <a:cs typeface="Aptos Display" pitchFamily="34" charset="-120"/>
              </a:rPr>
              <a:t>03</a:t>
            </a:r>
            <a:endParaRPr lang="en-US" sz="1300" dirty="0"/>
          </a:p>
        </p:txBody>
      </p:sp>
      <p:sp>
        <p:nvSpPr>
          <p:cNvPr id="12" name="Text 10"/>
          <p:cNvSpPr txBox="1"/>
          <p:nvPr/>
        </p:nvSpPr>
        <p:spPr>
          <a:xfrm>
            <a:off x="1426464" y="3803904"/>
            <a:ext cx="4443984" cy="292608"/>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F2F6FC"/>
                </a:solidFill>
                <a:latin typeface="Aptos Display" pitchFamily="34" charset="0"/>
                <a:ea typeface="Aptos Display" pitchFamily="34" charset="-122"/>
                <a:cs typeface="Aptos Display" pitchFamily="34" charset="-120"/>
              </a:rPr>
              <a:t>Rank + explain</a:t>
            </a:r>
            <a:endParaRPr lang="en-US" sz="1800" dirty="0"/>
          </a:p>
        </p:txBody>
      </p:sp>
      <p:sp>
        <p:nvSpPr>
          <p:cNvPr id="13" name="Text 11"/>
          <p:cNvSpPr txBox="1"/>
          <p:nvPr/>
        </p:nvSpPr>
        <p:spPr>
          <a:xfrm>
            <a:off x="1426464" y="4178808"/>
            <a:ext cx="4352544" cy="66751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A deterministic weighted score ranks visible candidates; Gemma adds a rationale when available.</a:t>
            </a:r>
            <a:endParaRPr lang="en-US" sz="1500" dirty="0"/>
          </a:p>
        </p:txBody>
      </p:sp>
      <p:sp>
        <p:nvSpPr>
          <p:cNvPr id="14" name="Text 12"/>
          <p:cNvSpPr txBox="1"/>
          <p:nvPr/>
        </p:nvSpPr>
        <p:spPr>
          <a:xfrm>
            <a:off x="6263640" y="3822192"/>
            <a:ext cx="438912" cy="292608"/>
          </a:xfrm>
          <a:prstGeom prst="rect">
            <a:avLst/>
          </a:prstGeom>
          <a:noFill/>
          <a:ln/>
        </p:spPr>
        <p:txBody>
          <a:bodyPr wrap="square" lIns="0" tIns="0" rIns="0" bIns="0" rtlCol="0" anchor="ctr">
            <a:normAutofit/>
          </a:bodyPr>
          <a:lstStyle/>
          <a:p>
            <a:pPr algn="l" indent="0" marL="0">
              <a:lnSpc>
                <a:spcPct val="112000"/>
              </a:lnSpc>
              <a:buNone/>
            </a:pPr>
            <a:r>
              <a:rPr lang="en-US" sz="1300" b="1" dirty="0">
                <a:solidFill>
                  <a:srgbClr val="F7C15D"/>
                </a:solidFill>
                <a:latin typeface="Aptos Display" pitchFamily="34" charset="0"/>
                <a:ea typeface="Aptos Display" pitchFamily="34" charset="-122"/>
                <a:cs typeface="Aptos Display" pitchFamily="34" charset="-120"/>
              </a:rPr>
              <a:t>04</a:t>
            </a:r>
            <a:endParaRPr lang="en-US" sz="1300" dirty="0"/>
          </a:p>
        </p:txBody>
      </p:sp>
      <p:sp>
        <p:nvSpPr>
          <p:cNvPr id="15" name="Text 13"/>
          <p:cNvSpPr txBox="1"/>
          <p:nvPr/>
        </p:nvSpPr>
        <p:spPr>
          <a:xfrm>
            <a:off x="6848856" y="3803904"/>
            <a:ext cx="4398264" cy="292608"/>
          </a:xfrm>
          <a:prstGeom prst="rect">
            <a:avLst/>
          </a:prstGeom>
          <a:noFill/>
          <a:ln/>
        </p:spPr>
        <p:txBody>
          <a:bodyPr wrap="square" lIns="0" tIns="0" rIns="0" bIns="0" rtlCol="0" anchor="ctr">
            <a:normAutofit/>
          </a:bodyPr>
          <a:lstStyle/>
          <a:p>
            <a:pPr algn="l" indent="0" marL="0">
              <a:lnSpc>
                <a:spcPct val="112000"/>
              </a:lnSpc>
              <a:buNone/>
            </a:pPr>
            <a:r>
              <a:rPr lang="en-US" sz="1800" b="1" dirty="0">
                <a:solidFill>
                  <a:srgbClr val="F2F6FC"/>
                </a:solidFill>
                <a:latin typeface="Aptos Display" pitchFamily="34" charset="0"/>
                <a:ea typeface="Aptos Display" pitchFamily="34" charset="-122"/>
                <a:cs typeface="Aptos Display" pitchFamily="34" charset="-120"/>
              </a:rPr>
              <a:t>Connect by choice</a:t>
            </a:r>
            <a:endParaRPr lang="en-US" sz="1800" dirty="0"/>
          </a:p>
        </p:txBody>
      </p:sp>
      <p:sp>
        <p:nvSpPr>
          <p:cNvPr id="16" name="Text 14"/>
          <p:cNvSpPr txBox="1"/>
          <p:nvPr/>
        </p:nvSpPr>
        <p:spPr>
          <a:xfrm>
            <a:off x="6848856" y="4178808"/>
            <a:ext cx="4306824" cy="667512"/>
          </a:xfrm>
          <a:prstGeom prst="rect">
            <a:avLst/>
          </a:prstGeom>
          <a:noFill/>
          <a:ln/>
        </p:spPr>
        <p:txBody>
          <a:bodyPr wrap="square" lIns="0" tIns="0" rIns="0" bIns="0" rtlCol="0" anchor="t">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Only opted-in profiles appear; the requester shares an invite link manually.</a:t>
            </a:r>
            <a:endParaRPr lang="en-US" sz="1500" dirty="0"/>
          </a:p>
        </p:txBody>
      </p:sp>
      <p:sp>
        <p:nvSpPr>
          <p:cNvPr id="17" name="Text 15"/>
          <p:cNvSpPr txBox="1"/>
          <p:nvPr/>
        </p:nvSpPr>
        <p:spPr>
          <a:xfrm>
            <a:off x="868680" y="5715000"/>
            <a:ext cx="10378440" cy="292608"/>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Score signals: matching skills • requested roles • shared interests • experience level</a:t>
            </a:r>
            <a:endParaRPr lang="en-US" sz="14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PRIVACY + TRUST</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Student data stays scoped and discovery stays optional</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Privacy is part of the product design, not a banner added after the fact.</a:t>
            </a:r>
            <a:endParaRPr lang="en-US" sz="1500" dirty="0"/>
          </a:p>
        </p:txBody>
      </p:sp>
      <p:sp>
        <p:nvSpPr>
          <p:cNvPr id="5" name="Text 3"/>
          <p:cNvSpPr txBox="1"/>
          <p:nvPr/>
        </p:nvSpPr>
        <p:spPr>
          <a:xfrm>
            <a:off x="868680" y="2121408"/>
            <a:ext cx="2423160" cy="219456"/>
          </a:xfrm>
          <a:prstGeom prst="rect">
            <a:avLst/>
          </a:prstGeom>
          <a:noFill/>
          <a:ln/>
        </p:spPr>
        <p:txBody>
          <a:bodyPr wrap="square" lIns="0" tIns="0" rIns="0" bIns="0" rtlCol="0" anchor="ctr">
            <a:normAutofit/>
          </a:bodyPr>
          <a:lstStyle/>
          <a:p>
            <a:pPr algn="l" indent="0" marL="0">
              <a:lnSpc>
                <a:spcPct val="112000"/>
              </a:lnSpc>
              <a:buNone/>
            </a:pPr>
            <a:r>
              <a:rPr lang="en-US" sz="1000" b="1" spc="100" kern="0" dirty="0">
                <a:solidFill>
                  <a:srgbClr val="37D7E5"/>
                </a:solidFill>
                <a:latin typeface="Aptos" pitchFamily="34" charset="0"/>
                <a:ea typeface="Aptos" pitchFamily="34" charset="-122"/>
                <a:cs typeface="Aptos" pitchFamily="34" charset="-120"/>
              </a:rPr>
              <a:t>AUTHENTICATION</a:t>
            </a:r>
            <a:endParaRPr lang="en-US" sz="1000" dirty="0"/>
          </a:p>
        </p:txBody>
      </p:sp>
      <p:sp>
        <p:nvSpPr>
          <p:cNvPr id="6" name="Text 4"/>
          <p:cNvSpPr txBox="1"/>
          <p:nvPr/>
        </p:nvSpPr>
        <p:spPr>
          <a:xfrm>
            <a:off x="3337560" y="2075688"/>
            <a:ext cx="7498080" cy="438912"/>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A student signs in before using protected features.</a:t>
            </a:r>
            <a:endParaRPr lang="en-US" sz="1700" dirty="0"/>
          </a:p>
        </p:txBody>
      </p:sp>
      <p:sp>
        <p:nvSpPr>
          <p:cNvPr id="7" name="Shape 5"/>
          <p:cNvSpPr/>
          <p:nvPr/>
        </p:nvSpPr>
        <p:spPr>
          <a:xfrm>
            <a:off x="868680" y="2688336"/>
            <a:ext cx="10195560" cy="0"/>
          </a:xfrm>
          <a:prstGeom prst="line">
            <a:avLst/>
          </a:prstGeom>
          <a:noFill/>
          <a:ln w="8890">
            <a:solidFill>
              <a:srgbClr val="243149"/>
            </a:solidFill>
            <a:prstDash val="solid"/>
          </a:ln>
        </p:spPr>
      </p:sp>
      <p:sp>
        <p:nvSpPr>
          <p:cNvPr id="8" name="Text 6"/>
          <p:cNvSpPr txBox="1"/>
          <p:nvPr/>
        </p:nvSpPr>
        <p:spPr>
          <a:xfrm>
            <a:off x="868680" y="2916936"/>
            <a:ext cx="2423160" cy="219456"/>
          </a:xfrm>
          <a:prstGeom prst="rect">
            <a:avLst/>
          </a:prstGeom>
          <a:noFill/>
          <a:ln/>
        </p:spPr>
        <p:txBody>
          <a:bodyPr wrap="square" lIns="0" tIns="0" rIns="0" bIns="0" rtlCol="0" anchor="ctr">
            <a:normAutofit/>
          </a:bodyPr>
          <a:lstStyle/>
          <a:p>
            <a:pPr algn="l" indent="0" marL="0">
              <a:lnSpc>
                <a:spcPct val="112000"/>
              </a:lnSpc>
              <a:buNone/>
            </a:pPr>
            <a:r>
              <a:rPr lang="en-US" sz="1000" b="1" spc="100" kern="0" dirty="0">
                <a:solidFill>
                  <a:srgbClr val="37D7E5"/>
                </a:solidFill>
                <a:latin typeface="Aptos" pitchFamily="34" charset="0"/>
                <a:ea typeface="Aptos" pitchFamily="34" charset="-122"/>
                <a:cs typeface="Aptos" pitchFamily="34" charset="-120"/>
              </a:rPr>
              <a:t>ROW-LEVEL SECURITY</a:t>
            </a:r>
            <a:endParaRPr lang="en-US" sz="1000" dirty="0"/>
          </a:p>
        </p:txBody>
      </p:sp>
      <p:sp>
        <p:nvSpPr>
          <p:cNvPr id="9" name="Text 7"/>
          <p:cNvSpPr txBox="1"/>
          <p:nvPr/>
        </p:nvSpPr>
        <p:spPr>
          <a:xfrm>
            <a:off x="3337560" y="2871216"/>
            <a:ext cx="7498080" cy="438912"/>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Saved records and profile edits are scoped to their owner.</a:t>
            </a:r>
            <a:endParaRPr lang="en-US" sz="1700" dirty="0"/>
          </a:p>
        </p:txBody>
      </p:sp>
      <p:sp>
        <p:nvSpPr>
          <p:cNvPr id="10" name="Shape 8"/>
          <p:cNvSpPr/>
          <p:nvPr/>
        </p:nvSpPr>
        <p:spPr>
          <a:xfrm>
            <a:off x="868680" y="3483864"/>
            <a:ext cx="10195560" cy="0"/>
          </a:xfrm>
          <a:prstGeom prst="line">
            <a:avLst/>
          </a:prstGeom>
          <a:noFill/>
          <a:ln w="8890">
            <a:solidFill>
              <a:srgbClr val="243149"/>
            </a:solidFill>
            <a:prstDash val="solid"/>
          </a:ln>
        </p:spPr>
      </p:sp>
      <p:sp>
        <p:nvSpPr>
          <p:cNvPr id="11" name="Text 9"/>
          <p:cNvSpPr txBox="1"/>
          <p:nvPr/>
        </p:nvSpPr>
        <p:spPr>
          <a:xfrm>
            <a:off x="868680" y="3712464"/>
            <a:ext cx="2423160" cy="219456"/>
          </a:xfrm>
          <a:prstGeom prst="rect">
            <a:avLst/>
          </a:prstGeom>
          <a:noFill/>
          <a:ln/>
        </p:spPr>
        <p:txBody>
          <a:bodyPr wrap="square" lIns="0" tIns="0" rIns="0" bIns="0" rtlCol="0" anchor="ctr">
            <a:normAutofit/>
          </a:bodyPr>
          <a:lstStyle/>
          <a:p>
            <a:pPr algn="l" indent="0" marL="0">
              <a:lnSpc>
                <a:spcPct val="112000"/>
              </a:lnSpc>
              <a:buNone/>
            </a:pPr>
            <a:r>
              <a:rPr lang="en-US" sz="1000" b="1" spc="100" kern="0" dirty="0">
                <a:solidFill>
                  <a:srgbClr val="A985FF"/>
                </a:solidFill>
                <a:latin typeface="Aptos" pitchFamily="34" charset="0"/>
                <a:ea typeface="Aptos" pitchFamily="34" charset="-122"/>
                <a:cs typeface="Aptos" pitchFamily="34" charset="-120"/>
              </a:rPr>
              <a:t>OPT-IN DISCOVERY</a:t>
            </a:r>
            <a:endParaRPr lang="en-US" sz="1000" dirty="0"/>
          </a:p>
        </p:txBody>
      </p:sp>
      <p:sp>
        <p:nvSpPr>
          <p:cNvPr id="12" name="Text 10"/>
          <p:cNvSpPr txBox="1"/>
          <p:nvPr/>
        </p:nvSpPr>
        <p:spPr>
          <a:xfrm>
            <a:off x="3337560" y="3666744"/>
            <a:ext cx="7498080" cy="438912"/>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Only signed-in students can view profiles whose owners opt in.</a:t>
            </a:r>
            <a:endParaRPr lang="en-US" sz="1700" dirty="0"/>
          </a:p>
        </p:txBody>
      </p:sp>
      <p:sp>
        <p:nvSpPr>
          <p:cNvPr id="13" name="Shape 11"/>
          <p:cNvSpPr/>
          <p:nvPr/>
        </p:nvSpPr>
        <p:spPr>
          <a:xfrm>
            <a:off x="868680" y="4279392"/>
            <a:ext cx="10195560" cy="0"/>
          </a:xfrm>
          <a:prstGeom prst="line">
            <a:avLst/>
          </a:prstGeom>
          <a:noFill/>
          <a:ln w="8890">
            <a:solidFill>
              <a:srgbClr val="243149"/>
            </a:solidFill>
            <a:prstDash val="solid"/>
          </a:ln>
        </p:spPr>
      </p:sp>
      <p:sp>
        <p:nvSpPr>
          <p:cNvPr id="14" name="Text 12"/>
          <p:cNvSpPr txBox="1"/>
          <p:nvPr/>
        </p:nvSpPr>
        <p:spPr>
          <a:xfrm>
            <a:off x="868680" y="4507992"/>
            <a:ext cx="2423160" cy="219456"/>
          </a:xfrm>
          <a:prstGeom prst="rect">
            <a:avLst/>
          </a:prstGeom>
          <a:noFill/>
          <a:ln/>
        </p:spPr>
        <p:txBody>
          <a:bodyPr wrap="square" lIns="0" tIns="0" rIns="0" bIns="0" rtlCol="0" anchor="ctr">
            <a:normAutofit/>
          </a:bodyPr>
          <a:lstStyle/>
          <a:p>
            <a:pPr algn="l" indent="0" marL="0">
              <a:lnSpc>
                <a:spcPct val="112000"/>
              </a:lnSpc>
              <a:buNone/>
            </a:pPr>
            <a:r>
              <a:rPr lang="en-US" sz="1000" b="1" spc="100" kern="0" dirty="0">
                <a:solidFill>
                  <a:srgbClr val="37D7E5"/>
                </a:solidFill>
                <a:latin typeface="Aptos" pitchFamily="34" charset="0"/>
                <a:ea typeface="Aptos" pitchFamily="34" charset="-122"/>
                <a:cs typeface="Aptos" pitchFamily="34" charset="-120"/>
              </a:rPr>
              <a:t>SECRET HANDLING</a:t>
            </a:r>
            <a:endParaRPr lang="en-US" sz="1000" dirty="0"/>
          </a:p>
        </p:txBody>
      </p:sp>
      <p:sp>
        <p:nvSpPr>
          <p:cNvPr id="15" name="Text 13"/>
          <p:cNvSpPr txBox="1"/>
          <p:nvPr/>
        </p:nvSpPr>
        <p:spPr>
          <a:xfrm>
            <a:off x="3337560" y="4462272"/>
            <a:ext cx="7498080" cy="438912"/>
          </a:xfrm>
          <a:prstGeom prst="rect">
            <a:avLst/>
          </a:prstGeom>
          <a:noFill/>
          <a:ln/>
        </p:spPr>
        <p:txBody>
          <a:bodyPr wrap="square" lIns="0" tIns="0" rIns="0" bIns="0" rtlCol="0" anchor="ctr">
            <a:normAutofit/>
          </a:bodyPr>
          <a:lstStyle/>
          <a:p>
            <a:pPr algn="l" indent="0" marL="0">
              <a:lnSpc>
                <a:spcPct val="112000"/>
              </a:lnSpc>
              <a:buNone/>
            </a:pPr>
            <a:r>
              <a:rPr lang="en-US" sz="1700" dirty="0">
                <a:solidFill>
                  <a:srgbClr val="F2F6FC"/>
                </a:solidFill>
                <a:latin typeface="Aptos" pitchFamily="34" charset="0"/>
                <a:ea typeface="Aptos" pitchFamily="34" charset="-122"/>
                <a:cs typeface="Aptos" pitchFamily="34" charset="-120"/>
              </a:rPr>
              <a:t>Supabase public key is used with RLS; AI keys remain server-side.</a:t>
            </a:r>
            <a:endParaRPr lang="en-US" sz="1700" dirty="0"/>
          </a:p>
        </p:txBody>
      </p:sp>
      <p:sp>
        <p:nvSpPr>
          <p:cNvPr id="16" name="Text 14"/>
          <p:cNvSpPr txBox="1"/>
          <p:nvPr/>
        </p:nvSpPr>
        <p:spPr>
          <a:xfrm>
            <a:off x="886968" y="5623560"/>
            <a:ext cx="10058400" cy="310896"/>
          </a:xfrm>
          <a:prstGeom prst="rect">
            <a:avLst/>
          </a:prstGeom>
          <a:noFill/>
          <a:ln/>
        </p:spPr>
        <p:txBody>
          <a:bodyPr wrap="square" lIns="0" tIns="0" rIns="0" bIns="0" rtlCol="0" anchor="ctr">
            <a:normAutofit/>
          </a:bodyPr>
          <a:lstStyle/>
          <a:p>
            <a:pPr algn="l" indent="0" marL="0">
              <a:lnSpc>
                <a:spcPct val="112000"/>
              </a:lnSpc>
              <a:buNone/>
            </a:pPr>
            <a:r>
              <a:rPr lang="en-US" sz="1300" dirty="0">
                <a:solidFill>
                  <a:srgbClr val="F7C15D"/>
                </a:solidFill>
                <a:latin typeface="Aptos" pitchFamily="34" charset="0"/>
                <a:ea typeface="Aptos" pitchFamily="34" charset="-122"/>
                <a:cs typeface="Aptos" pitchFamily="34" charset="-120"/>
              </a:rPr>
              <a:t>A discovery profile shares name, college, course, skills and roles with signed-in students.</a:t>
            </a:r>
            <a:endParaRPr lang="en-US" sz="13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HOW IT WORKS</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A small, modular web stack</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The prototype keeps authentication, storage and AI requests on separate paths.</a:t>
            </a:r>
            <a:endParaRPr lang="en-US" sz="1500" dirty="0"/>
          </a:p>
        </p:txBody>
      </p:sp>
      <p:sp>
        <p:nvSpPr>
          <p:cNvPr id="5" name="Shape 3"/>
          <p:cNvSpPr/>
          <p:nvPr/>
        </p:nvSpPr>
        <p:spPr>
          <a:xfrm>
            <a:off x="777240" y="2377440"/>
            <a:ext cx="2331720" cy="1097280"/>
          </a:xfrm>
          <a:prstGeom prst="rect">
            <a:avLst/>
          </a:prstGeom>
          <a:solidFill>
            <a:srgbClr val="0D1423"/>
          </a:solidFill>
          <a:ln w="10160">
            <a:solidFill>
              <a:srgbClr val="243149">
                <a:alpha val="95000"/>
              </a:srgbClr>
            </a:solidFill>
            <a:prstDash val="solid"/>
          </a:ln>
        </p:spPr>
      </p:sp>
      <p:sp>
        <p:nvSpPr>
          <p:cNvPr id="6" name="Text 4"/>
          <p:cNvSpPr txBox="1"/>
          <p:nvPr/>
        </p:nvSpPr>
        <p:spPr>
          <a:xfrm>
            <a:off x="941832" y="2532888"/>
            <a:ext cx="2002536"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37D7E5"/>
                </a:solidFill>
                <a:latin typeface="Aptos" pitchFamily="34" charset="0"/>
                <a:ea typeface="Aptos" pitchFamily="34" charset="-122"/>
                <a:cs typeface="Aptos" pitchFamily="34" charset="-120"/>
              </a:rPr>
              <a:t>STUDENT WEB APP</a:t>
            </a:r>
            <a:endParaRPr lang="en-US" sz="1200" dirty="0"/>
          </a:p>
        </p:txBody>
      </p:sp>
      <p:sp>
        <p:nvSpPr>
          <p:cNvPr id="7" name="Text 5"/>
          <p:cNvSpPr txBox="1"/>
          <p:nvPr/>
        </p:nvSpPr>
        <p:spPr>
          <a:xfrm>
            <a:off x="941832" y="2880360"/>
            <a:ext cx="2002536" cy="438912"/>
          </a:xfrm>
          <a:prstGeom prst="rect">
            <a:avLst/>
          </a:prstGeom>
          <a:noFill/>
          <a:ln/>
        </p:spPr>
        <p:txBody>
          <a:bodyPr wrap="square" lIns="0" tIns="0" rIns="0" bIns="0" rtlCol="0" anchor="t">
            <a:normAutofit/>
          </a:bodyPr>
          <a:lstStyle/>
          <a:p>
            <a:pPr algn="l" indent="0" marL="0">
              <a:lnSpc>
                <a:spcPct val="112000"/>
              </a:lnSpc>
              <a:buNone/>
            </a:pPr>
            <a:r>
              <a:rPr lang="en-US" sz="1200" dirty="0">
                <a:solidFill>
                  <a:srgbClr val="A8B5C9"/>
                </a:solidFill>
                <a:latin typeface="Aptos" pitchFamily="34" charset="0"/>
                <a:ea typeface="Aptos" pitchFamily="34" charset="-122"/>
                <a:cs typeface="Aptos" pitchFamily="34" charset="-120"/>
              </a:rPr>
              <a:t>Next.js App Router</a:t>
            </a:r>
            <a:endParaRPr lang="en-US" sz="1200" dirty="0"/>
          </a:p>
          <a:p>
            <a:pPr algn="l" indent="0" marL="0">
              <a:lnSpc>
                <a:spcPct val="112000"/>
              </a:lnSpc>
              <a:buNone/>
            </a:pPr>
            <a:r>
              <a:rPr lang="en-US" sz="1200" dirty="0">
                <a:solidFill>
                  <a:srgbClr val="A8B5C9"/>
                </a:solidFill>
                <a:latin typeface="Aptos" pitchFamily="34" charset="0"/>
                <a:ea typeface="Aptos" pitchFamily="34" charset="-122"/>
                <a:cs typeface="Aptos" pitchFamily="34" charset="-120"/>
              </a:rPr>
              <a:t>Text, uploads, profile, radar</a:t>
            </a:r>
            <a:endParaRPr lang="en-US" sz="1200" dirty="0"/>
          </a:p>
        </p:txBody>
      </p:sp>
      <p:sp>
        <p:nvSpPr>
          <p:cNvPr id="8" name="Shape 6"/>
          <p:cNvSpPr/>
          <p:nvPr/>
        </p:nvSpPr>
        <p:spPr>
          <a:xfrm>
            <a:off x="3657600" y="2377440"/>
            <a:ext cx="2331720" cy="1097280"/>
          </a:xfrm>
          <a:prstGeom prst="rect">
            <a:avLst/>
          </a:prstGeom>
          <a:solidFill>
            <a:srgbClr val="0D1423"/>
          </a:solidFill>
          <a:ln w="10160">
            <a:solidFill>
              <a:srgbClr val="243149">
                <a:alpha val="95000"/>
              </a:srgbClr>
            </a:solidFill>
            <a:prstDash val="solid"/>
          </a:ln>
        </p:spPr>
      </p:sp>
      <p:sp>
        <p:nvSpPr>
          <p:cNvPr id="9" name="Text 7"/>
          <p:cNvSpPr txBox="1"/>
          <p:nvPr/>
        </p:nvSpPr>
        <p:spPr>
          <a:xfrm>
            <a:off x="3822192" y="2532888"/>
            <a:ext cx="2002536"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4B83FF"/>
                </a:solidFill>
                <a:latin typeface="Aptos" pitchFamily="34" charset="0"/>
                <a:ea typeface="Aptos" pitchFamily="34" charset="-122"/>
                <a:cs typeface="Aptos" pitchFamily="34" charset="-120"/>
              </a:rPr>
              <a:t>SERVER API</a:t>
            </a:r>
            <a:endParaRPr lang="en-US" sz="1200" dirty="0"/>
          </a:p>
        </p:txBody>
      </p:sp>
      <p:sp>
        <p:nvSpPr>
          <p:cNvPr id="10" name="Text 8"/>
          <p:cNvSpPr txBox="1"/>
          <p:nvPr/>
        </p:nvSpPr>
        <p:spPr>
          <a:xfrm>
            <a:off x="3822192" y="2880360"/>
            <a:ext cx="2002536" cy="438912"/>
          </a:xfrm>
          <a:prstGeom prst="rect">
            <a:avLst/>
          </a:prstGeom>
          <a:noFill/>
          <a:ln/>
        </p:spPr>
        <p:txBody>
          <a:bodyPr wrap="square" lIns="0" tIns="0" rIns="0" bIns="0" rtlCol="0" anchor="t">
            <a:normAutofit/>
          </a:bodyPr>
          <a:lstStyle/>
          <a:p>
            <a:pPr algn="l" indent="0" marL="0">
              <a:lnSpc>
                <a:spcPct val="112000"/>
              </a:lnSpc>
              <a:buNone/>
            </a:pPr>
            <a:r>
              <a:rPr lang="en-US" sz="1200" dirty="0">
                <a:solidFill>
                  <a:srgbClr val="A8B5C9"/>
                </a:solidFill>
                <a:latin typeface="Aptos" pitchFamily="34" charset="0"/>
                <a:ea typeface="Aptos" pitchFamily="34" charset="-122"/>
                <a:cs typeface="Aptos" pitchFamily="34" charset="-120"/>
              </a:rPr>
              <a:t>Auth checks</a:t>
            </a:r>
            <a:endParaRPr lang="en-US" sz="1200" dirty="0"/>
          </a:p>
          <a:p>
            <a:pPr algn="l" indent="0" marL="0">
              <a:lnSpc>
                <a:spcPct val="112000"/>
              </a:lnSpc>
              <a:buNone/>
            </a:pPr>
            <a:r>
              <a:rPr lang="en-US" sz="1200" dirty="0">
                <a:solidFill>
                  <a:srgbClr val="A8B5C9"/>
                </a:solidFill>
                <a:latin typeface="Aptos" pitchFamily="34" charset="0"/>
                <a:ea typeface="Aptos" pitchFamily="34" charset="-122"/>
                <a:cs typeface="Aptos" pitchFamily="34" charset="-120"/>
              </a:rPr>
              <a:t>Schema validation</a:t>
            </a:r>
            <a:endParaRPr lang="en-US" sz="1200" dirty="0"/>
          </a:p>
        </p:txBody>
      </p:sp>
      <p:sp>
        <p:nvSpPr>
          <p:cNvPr id="11" name="Shape 9"/>
          <p:cNvSpPr/>
          <p:nvPr/>
        </p:nvSpPr>
        <p:spPr>
          <a:xfrm>
            <a:off x="6565392" y="2377440"/>
            <a:ext cx="2103120" cy="1097280"/>
          </a:xfrm>
          <a:prstGeom prst="rect">
            <a:avLst/>
          </a:prstGeom>
          <a:solidFill>
            <a:srgbClr val="0D1423"/>
          </a:solidFill>
          <a:ln w="10160">
            <a:solidFill>
              <a:srgbClr val="243149">
                <a:alpha val="95000"/>
              </a:srgbClr>
            </a:solidFill>
            <a:prstDash val="solid"/>
          </a:ln>
        </p:spPr>
      </p:sp>
      <p:sp>
        <p:nvSpPr>
          <p:cNvPr id="12" name="Text 10"/>
          <p:cNvSpPr txBox="1"/>
          <p:nvPr/>
        </p:nvSpPr>
        <p:spPr>
          <a:xfrm>
            <a:off x="6729984" y="2532888"/>
            <a:ext cx="1773936"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A985FF"/>
                </a:solidFill>
                <a:latin typeface="Aptos" pitchFamily="34" charset="0"/>
                <a:ea typeface="Aptos" pitchFamily="34" charset="-122"/>
                <a:cs typeface="Aptos" pitchFamily="34" charset="-120"/>
              </a:rPr>
              <a:t>GOOGLE AI</a:t>
            </a:r>
            <a:endParaRPr lang="en-US" sz="1200" dirty="0"/>
          </a:p>
        </p:txBody>
      </p:sp>
      <p:sp>
        <p:nvSpPr>
          <p:cNvPr id="13" name="Text 11"/>
          <p:cNvSpPr txBox="1"/>
          <p:nvPr/>
        </p:nvSpPr>
        <p:spPr>
          <a:xfrm>
            <a:off x="6729984" y="2880360"/>
            <a:ext cx="1773936" cy="438912"/>
          </a:xfrm>
          <a:prstGeom prst="rect">
            <a:avLst/>
          </a:prstGeom>
          <a:noFill/>
          <a:ln/>
        </p:spPr>
        <p:txBody>
          <a:bodyPr wrap="square" lIns="0" tIns="0" rIns="0" bIns="0" rtlCol="0" anchor="t">
            <a:normAutofit/>
          </a:bodyPr>
          <a:lstStyle/>
          <a:p>
            <a:pPr algn="l" indent="0" marL="0">
              <a:lnSpc>
                <a:spcPct val="112000"/>
              </a:lnSpc>
              <a:buNone/>
            </a:pPr>
            <a:r>
              <a:rPr lang="en-US" sz="1200" dirty="0">
                <a:solidFill>
                  <a:srgbClr val="A8B5C9"/>
                </a:solidFill>
                <a:latin typeface="Aptos" pitchFamily="34" charset="0"/>
                <a:ea typeface="Aptos" pitchFamily="34" charset="-122"/>
                <a:cs typeface="Aptos" pitchFamily="34" charset="-120"/>
              </a:rPr>
              <a:t>Notice extraction</a:t>
            </a:r>
            <a:endParaRPr lang="en-US" sz="1200" dirty="0"/>
          </a:p>
          <a:p>
            <a:pPr algn="l" indent="0" marL="0">
              <a:lnSpc>
                <a:spcPct val="112000"/>
              </a:lnSpc>
              <a:buNone/>
            </a:pPr>
            <a:r>
              <a:rPr lang="en-US" sz="1200" dirty="0">
                <a:solidFill>
                  <a:srgbClr val="A8B5C9"/>
                </a:solidFill>
                <a:latin typeface="Aptos" pitchFamily="34" charset="0"/>
                <a:ea typeface="Aptos" pitchFamily="34" charset="-122"/>
                <a:cs typeface="Aptos" pitchFamily="34" charset="-120"/>
              </a:rPr>
              <a:t>Explanation text</a:t>
            </a:r>
            <a:endParaRPr lang="en-US" sz="1200" dirty="0"/>
          </a:p>
        </p:txBody>
      </p:sp>
      <p:sp>
        <p:nvSpPr>
          <p:cNvPr id="14" name="Shape 12"/>
          <p:cNvSpPr/>
          <p:nvPr/>
        </p:nvSpPr>
        <p:spPr>
          <a:xfrm>
            <a:off x="9189720" y="2377440"/>
            <a:ext cx="2103120" cy="1097280"/>
          </a:xfrm>
          <a:prstGeom prst="rect">
            <a:avLst/>
          </a:prstGeom>
          <a:solidFill>
            <a:srgbClr val="0D1423"/>
          </a:solidFill>
          <a:ln w="10160">
            <a:solidFill>
              <a:srgbClr val="243149">
                <a:alpha val="95000"/>
              </a:srgbClr>
            </a:solidFill>
            <a:prstDash val="solid"/>
          </a:ln>
        </p:spPr>
      </p:sp>
      <p:sp>
        <p:nvSpPr>
          <p:cNvPr id="15" name="Text 13"/>
          <p:cNvSpPr txBox="1"/>
          <p:nvPr/>
        </p:nvSpPr>
        <p:spPr>
          <a:xfrm>
            <a:off x="9354312" y="2532888"/>
            <a:ext cx="1773936"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59D6A3"/>
                </a:solidFill>
                <a:latin typeface="Aptos" pitchFamily="34" charset="0"/>
                <a:ea typeface="Aptos" pitchFamily="34" charset="-122"/>
                <a:cs typeface="Aptos" pitchFamily="34" charset="-120"/>
              </a:rPr>
              <a:t>SUPABASE</a:t>
            </a:r>
            <a:endParaRPr lang="en-US" sz="1200" dirty="0"/>
          </a:p>
        </p:txBody>
      </p:sp>
      <p:sp>
        <p:nvSpPr>
          <p:cNvPr id="16" name="Text 14"/>
          <p:cNvSpPr txBox="1"/>
          <p:nvPr/>
        </p:nvSpPr>
        <p:spPr>
          <a:xfrm>
            <a:off x="9354312" y="2880360"/>
            <a:ext cx="1773936" cy="438912"/>
          </a:xfrm>
          <a:prstGeom prst="rect">
            <a:avLst/>
          </a:prstGeom>
          <a:noFill/>
          <a:ln/>
        </p:spPr>
        <p:txBody>
          <a:bodyPr wrap="square" lIns="0" tIns="0" rIns="0" bIns="0" rtlCol="0" anchor="t">
            <a:normAutofit/>
          </a:bodyPr>
          <a:lstStyle/>
          <a:p>
            <a:pPr algn="l" indent="0" marL="0">
              <a:lnSpc>
                <a:spcPct val="112000"/>
              </a:lnSpc>
              <a:buNone/>
            </a:pPr>
            <a:r>
              <a:rPr lang="en-US" sz="1200" dirty="0">
                <a:solidFill>
                  <a:srgbClr val="A8B5C9"/>
                </a:solidFill>
                <a:latin typeface="Aptos" pitchFamily="34" charset="0"/>
                <a:ea typeface="Aptos" pitchFamily="34" charset="-122"/>
                <a:cs typeface="Aptos" pitchFamily="34" charset="-120"/>
              </a:rPr>
              <a:t>Auth + PostgreSQL</a:t>
            </a:r>
            <a:endParaRPr lang="en-US" sz="1200" dirty="0"/>
          </a:p>
          <a:p>
            <a:pPr algn="l" indent="0" marL="0">
              <a:lnSpc>
                <a:spcPct val="112000"/>
              </a:lnSpc>
              <a:buNone/>
            </a:pPr>
            <a:r>
              <a:rPr lang="en-US" sz="1200" dirty="0">
                <a:solidFill>
                  <a:srgbClr val="A8B5C9"/>
                </a:solidFill>
                <a:latin typeface="Aptos" pitchFamily="34" charset="0"/>
                <a:ea typeface="Aptos" pitchFamily="34" charset="-122"/>
                <a:cs typeface="Aptos" pitchFamily="34" charset="-120"/>
              </a:rPr>
              <a:t>RLS-protected records</a:t>
            </a:r>
            <a:endParaRPr lang="en-US" sz="1200" dirty="0"/>
          </a:p>
        </p:txBody>
      </p:sp>
      <p:sp>
        <p:nvSpPr>
          <p:cNvPr id="17" name="Text 15"/>
          <p:cNvSpPr txBox="1"/>
          <p:nvPr/>
        </p:nvSpPr>
        <p:spPr>
          <a:xfrm>
            <a:off x="3191256" y="2724912"/>
            <a:ext cx="347472" cy="384048"/>
          </a:xfrm>
          <a:prstGeom prst="rect">
            <a:avLst/>
          </a:prstGeom>
          <a:noFill/>
          <a:ln/>
        </p:spPr>
        <p:txBody>
          <a:bodyPr wrap="square" lIns="0" tIns="0" rIns="0" bIns="0" rtlCol="0" anchor="ctr">
            <a:normAutofit/>
          </a:bodyPr>
          <a:lstStyle/>
          <a:p>
            <a:pPr algn="ctr" indent="0" marL="0">
              <a:lnSpc>
                <a:spcPct val="112000"/>
              </a:lnSpc>
              <a:buNone/>
            </a:pPr>
            <a:r>
              <a:rPr lang="en-US" sz="2200" dirty="0">
                <a:solidFill>
                  <a:srgbClr val="74839B"/>
                </a:solidFill>
                <a:latin typeface="Aptos" pitchFamily="34" charset="0"/>
                <a:ea typeface="Aptos" pitchFamily="34" charset="-122"/>
                <a:cs typeface="Aptos" pitchFamily="34" charset="-120"/>
              </a:rPr>
              <a:t>→</a:t>
            </a:r>
            <a:endParaRPr lang="en-US" sz="2200" dirty="0"/>
          </a:p>
        </p:txBody>
      </p:sp>
      <p:sp>
        <p:nvSpPr>
          <p:cNvPr id="18" name="Text 16"/>
          <p:cNvSpPr txBox="1"/>
          <p:nvPr/>
        </p:nvSpPr>
        <p:spPr>
          <a:xfrm>
            <a:off x="6080760" y="2724912"/>
            <a:ext cx="347472" cy="384048"/>
          </a:xfrm>
          <a:prstGeom prst="rect">
            <a:avLst/>
          </a:prstGeom>
          <a:noFill/>
          <a:ln/>
        </p:spPr>
        <p:txBody>
          <a:bodyPr wrap="square" lIns="0" tIns="0" rIns="0" bIns="0" rtlCol="0" anchor="ctr">
            <a:normAutofit/>
          </a:bodyPr>
          <a:lstStyle/>
          <a:p>
            <a:pPr algn="ctr" indent="0" marL="0">
              <a:lnSpc>
                <a:spcPct val="112000"/>
              </a:lnSpc>
              <a:buNone/>
            </a:pPr>
            <a:r>
              <a:rPr lang="en-US" sz="2200" dirty="0">
                <a:solidFill>
                  <a:srgbClr val="74839B"/>
                </a:solidFill>
                <a:latin typeface="Aptos" pitchFamily="34" charset="0"/>
                <a:ea typeface="Aptos" pitchFamily="34" charset="-122"/>
                <a:cs typeface="Aptos" pitchFamily="34" charset="-120"/>
              </a:rPr>
              <a:t>→</a:t>
            </a:r>
            <a:endParaRPr lang="en-US" sz="2200" dirty="0"/>
          </a:p>
        </p:txBody>
      </p:sp>
      <p:sp>
        <p:nvSpPr>
          <p:cNvPr id="19" name="Text 17"/>
          <p:cNvSpPr txBox="1"/>
          <p:nvPr/>
        </p:nvSpPr>
        <p:spPr>
          <a:xfrm>
            <a:off x="8814816" y="2724912"/>
            <a:ext cx="347472" cy="384048"/>
          </a:xfrm>
          <a:prstGeom prst="rect">
            <a:avLst/>
          </a:prstGeom>
          <a:noFill/>
          <a:ln/>
        </p:spPr>
        <p:txBody>
          <a:bodyPr wrap="square" lIns="0" tIns="0" rIns="0" bIns="0" rtlCol="0" anchor="ctr">
            <a:normAutofit/>
          </a:bodyPr>
          <a:lstStyle/>
          <a:p>
            <a:pPr algn="ctr" indent="0" marL="0">
              <a:lnSpc>
                <a:spcPct val="112000"/>
              </a:lnSpc>
              <a:buNone/>
            </a:pPr>
            <a:r>
              <a:rPr lang="en-US" sz="2200" dirty="0">
                <a:solidFill>
                  <a:srgbClr val="74839B"/>
                </a:solidFill>
                <a:latin typeface="Aptos" pitchFamily="34" charset="0"/>
                <a:ea typeface="Aptos" pitchFamily="34" charset="-122"/>
                <a:cs typeface="Aptos" pitchFamily="34" charset="-120"/>
              </a:rPr>
              <a:t>→</a:t>
            </a:r>
            <a:endParaRPr lang="en-US" sz="2200" dirty="0"/>
          </a:p>
        </p:txBody>
      </p:sp>
      <p:sp>
        <p:nvSpPr>
          <p:cNvPr id="20" name="Shape 18"/>
          <p:cNvSpPr/>
          <p:nvPr/>
        </p:nvSpPr>
        <p:spPr>
          <a:xfrm>
            <a:off x="822960" y="4005072"/>
            <a:ext cx="10469880" cy="0"/>
          </a:xfrm>
          <a:prstGeom prst="line">
            <a:avLst/>
          </a:prstGeom>
          <a:noFill/>
          <a:ln w="12700">
            <a:solidFill>
              <a:srgbClr val="243149"/>
            </a:solidFill>
            <a:prstDash val="solid"/>
          </a:ln>
        </p:spPr>
      </p:sp>
      <p:sp>
        <p:nvSpPr>
          <p:cNvPr id="21" name="Text 19"/>
          <p:cNvSpPr txBox="1"/>
          <p:nvPr/>
        </p:nvSpPr>
        <p:spPr>
          <a:xfrm>
            <a:off x="868680" y="4389120"/>
            <a:ext cx="8046720" cy="384048"/>
          </a:xfrm>
          <a:prstGeom prst="rect">
            <a:avLst/>
          </a:prstGeom>
          <a:noFill/>
          <a:ln/>
        </p:spPr>
        <p:txBody>
          <a:bodyPr wrap="square" lIns="0" tIns="0" rIns="0" bIns="0" rtlCol="0" anchor="ctr">
            <a:normAutofit/>
          </a:bodyPr>
          <a:lstStyle/>
          <a:p>
            <a:pPr algn="l" indent="0" marL="0">
              <a:lnSpc>
                <a:spcPct val="112000"/>
              </a:lnSpc>
              <a:buNone/>
            </a:pPr>
            <a:r>
              <a:rPr lang="en-US" sz="2200" b="1" dirty="0">
                <a:solidFill>
                  <a:srgbClr val="F2F6FC"/>
                </a:solidFill>
                <a:latin typeface="Aptos Display" pitchFamily="34" charset="0"/>
                <a:ea typeface="Aptos Display" pitchFamily="34" charset="-122"/>
                <a:cs typeface="Aptos Display" pitchFamily="34" charset="-120"/>
              </a:rPr>
              <a:t>AI does not write directly to the student feed.</a:t>
            </a:r>
            <a:endParaRPr lang="en-US" sz="2200" dirty="0"/>
          </a:p>
        </p:txBody>
      </p:sp>
      <p:sp>
        <p:nvSpPr>
          <p:cNvPr id="22" name="Text 20"/>
          <p:cNvSpPr txBox="1"/>
          <p:nvPr/>
        </p:nvSpPr>
        <p:spPr>
          <a:xfrm>
            <a:off x="877824" y="4965192"/>
            <a:ext cx="9966960" cy="384048"/>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The student reviews the structured draft; authenticated database policies control each write.</a:t>
            </a:r>
            <a:endParaRPr lang="en-US" sz="15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EXPECTED VALUE</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Benefits to test in a campus pilot</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These are intended outcomes, not measured results yet.</a:t>
            </a:r>
            <a:endParaRPr lang="en-US" sz="1500" dirty="0"/>
          </a:p>
        </p:txBody>
      </p:sp>
      <p:sp>
        <p:nvSpPr>
          <p:cNvPr id="5" name="Text 3"/>
          <p:cNvSpPr txBox="1"/>
          <p:nvPr/>
        </p:nvSpPr>
        <p:spPr>
          <a:xfrm>
            <a:off x="868680" y="2267712"/>
            <a:ext cx="2286000" cy="219456"/>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37D7E5"/>
                </a:solidFill>
                <a:latin typeface="Aptos" pitchFamily="34" charset="0"/>
                <a:ea typeface="Aptos" pitchFamily="34" charset="-122"/>
                <a:cs typeface="Aptos" pitchFamily="34" charset="-120"/>
              </a:rPr>
              <a:t>FOR STUDENTS</a:t>
            </a:r>
            <a:endParaRPr lang="en-US" sz="1000" dirty="0"/>
          </a:p>
        </p:txBody>
      </p:sp>
      <p:sp>
        <p:nvSpPr>
          <p:cNvPr id="6" name="Text 4"/>
          <p:cNvSpPr txBox="1"/>
          <p:nvPr/>
        </p:nvSpPr>
        <p:spPr>
          <a:xfrm>
            <a:off x="868680" y="2679192"/>
            <a:ext cx="4343400" cy="914400"/>
          </a:xfrm>
          <a:prstGeom prst="rect">
            <a:avLst/>
          </a:prstGeom>
          <a:noFill/>
          <a:ln/>
        </p:spPr>
        <p:txBody>
          <a:bodyPr wrap="square" lIns="0" tIns="0" rIns="0" bIns="0" rtlCol="0" anchor="t">
            <a:normAutofit/>
          </a:bodyPr>
          <a:lstStyle/>
          <a:p>
            <a:pPr algn="l" indent="0" marL="0">
              <a:lnSpc>
                <a:spcPct val="112000"/>
              </a:lnSpc>
              <a:buNone/>
            </a:pPr>
            <a:r>
              <a:rPr lang="en-US" sz="2100" b="1" dirty="0">
                <a:solidFill>
                  <a:srgbClr val="F2F6FC"/>
                </a:solidFill>
                <a:latin typeface="Aptos Display" pitchFamily="34" charset="0"/>
                <a:ea typeface="Aptos Display" pitchFamily="34" charset="-122"/>
                <a:cs typeface="Aptos Display" pitchFamily="34" charset="-120"/>
              </a:rPr>
              <a:t>Less manual reading; clearer eligibility and deadlines; one place to track applications.</a:t>
            </a:r>
            <a:endParaRPr lang="en-US" sz="2100" dirty="0"/>
          </a:p>
        </p:txBody>
      </p:sp>
      <p:sp>
        <p:nvSpPr>
          <p:cNvPr id="7" name="Text 5"/>
          <p:cNvSpPr txBox="1"/>
          <p:nvPr/>
        </p:nvSpPr>
        <p:spPr>
          <a:xfrm>
            <a:off x="6199632" y="2267712"/>
            <a:ext cx="3108960" cy="219456"/>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A985FF"/>
                </a:solidFill>
                <a:latin typeface="Aptos" pitchFamily="34" charset="0"/>
                <a:ea typeface="Aptos" pitchFamily="34" charset="-122"/>
                <a:cs typeface="Aptos" pitchFamily="34" charset="-120"/>
              </a:rPr>
              <a:t>FOR CLUBS + CAMPUSES</a:t>
            </a:r>
            <a:endParaRPr lang="en-US" sz="1000" dirty="0"/>
          </a:p>
        </p:txBody>
      </p:sp>
      <p:sp>
        <p:nvSpPr>
          <p:cNvPr id="8" name="Text 6"/>
          <p:cNvSpPr txBox="1"/>
          <p:nvPr/>
        </p:nvSpPr>
        <p:spPr>
          <a:xfrm>
            <a:off x="6199632" y="2679192"/>
            <a:ext cx="4343400" cy="914400"/>
          </a:xfrm>
          <a:prstGeom prst="rect">
            <a:avLst/>
          </a:prstGeom>
          <a:noFill/>
          <a:ln/>
        </p:spPr>
        <p:txBody>
          <a:bodyPr wrap="square" lIns="0" tIns="0" rIns="0" bIns="0" rtlCol="0" anchor="t">
            <a:normAutofit/>
          </a:bodyPr>
          <a:lstStyle/>
          <a:p>
            <a:pPr algn="l" indent="0" marL="0">
              <a:lnSpc>
                <a:spcPct val="112000"/>
              </a:lnSpc>
              <a:buNone/>
            </a:pPr>
            <a:r>
              <a:rPr lang="en-US" sz="2100" b="1" dirty="0">
                <a:solidFill>
                  <a:srgbClr val="F2F6FC"/>
                </a:solidFill>
                <a:latin typeface="Aptos Display" pitchFamily="34" charset="0"/>
                <a:ea typeface="Aptos Display" pitchFamily="34" charset="-122"/>
                <a:cs typeface="Aptos Display" pitchFamily="34" charset="-120"/>
              </a:rPr>
              <a:t>A shareable opportunity feed and a consent-based way for students to find project partners.</a:t>
            </a:r>
            <a:endParaRPr lang="en-US" sz="2100" dirty="0"/>
          </a:p>
        </p:txBody>
      </p:sp>
      <p:sp>
        <p:nvSpPr>
          <p:cNvPr id="9" name="Shape 7"/>
          <p:cNvSpPr/>
          <p:nvPr/>
        </p:nvSpPr>
        <p:spPr>
          <a:xfrm>
            <a:off x="877824" y="4096512"/>
            <a:ext cx="10186416" cy="0"/>
          </a:xfrm>
          <a:prstGeom prst="line">
            <a:avLst/>
          </a:prstGeom>
          <a:noFill/>
          <a:ln w="12700">
            <a:solidFill>
              <a:srgbClr val="243149"/>
            </a:solidFill>
            <a:prstDash val="solid"/>
          </a:ln>
        </p:spPr>
      </p:sp>
      <p:sp>
        <p:nvSpPr>
          <p:cNvPr id="10" name="Text 8"/>
          <p:cNvSpPr txBox="1"/>
          <p:nvPr/>
        </p:nvSpPr>
        <p:spPr>
          <a:xfrm>
            <a:off x="886968" y="4398264"/>
            <a:ext cx="2286000" cy="219456"/>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F7C15D"/>
                </a:solidFill>
                <a:latin typeface="Aptos" pitchFamily="34" charset="0"/>
                <a:ea typeface="Aptos" pitchFamily="34" charset="-122"/>
                <a:cs typeface="Aptos" pitchFamily="34" charset="-120"/>
              </a:rPr>
              <a:t>PILOT HYPOTHESES</a:t>
            </a:r>
            <a:endParaRPr lang="en-US" sz="1000" dirty="0"/>
          </a:p>
        </p:txBody>
      </p:sp>
      <p:sp>
        <p:nvSpPr>
          <p:cNvPr id="11" name="Text 9"/>
          <p:cNvSpPr txBox="1"/>
          <p:nvPr/>
        </p:nvSpPr>
        <p:spPr>
          <a:xfrm>
            <a:off x="886968" y="4818888"/>
            <a:ext cx="3108960" cy="329184"/>
          </a:xfrm>
          <a:prstGeom prst="rect">
            <a:avLst/>
          </a:prstGeom>
          <a:noFill/>
          <a:ln/>
        </p:spPr>
        <p:txBody>
          <a:bodyPr wrap="square" lIns="0" tIns="0" rIns="0" bIns="0" rtlCol="0" anchor="ctr">
            <a:normAutofit/>
          </a:bodyPr>
          <a:lstStyle/>
          <a:p>
            <a:pPr algn="l" indent="0" marL="0">
              <a:lnSpc>
                <a:spcPct val="112000"/>
              </a:lnSpc>
              <a:buNone/>
            </a:pPr>
            <a:r>
              <a:rPr lang="en-US" sz="1600" dirty="0">
                <a:solidFill>
                  <a:srgbClr val="F2F6FC"/>
                </a:solidFill>
                <a:latin typeface="Aptos" pitchFamily="34" charset="0"/>
                <a:ea typeface="Aptos" pitchFamily="34" charset="-122"/>
                <a:cs typeface="Aptos" pitchFamily="34" charset="-120"/>
              </a:rPr>
              <a:t>Faster notice-to-save time</a:t>
            </a:r>
            <a:endParaRPr lang="en-US" sz="1600" dirty="0"/>
          </a:p>
        </p:txBody>
      </p:sp>
      <p:sp>
        <p:nvSpPr>
          <p:cNvPr id="12" name="Text 10"/>
          <p:cNvSpPr txBox="1"/>
          <p:nvPr/>
        </p:nvSpPr>
        <p:spPr>
          <a:xfrm>
            <a:off x="4160520" y="4818888"/>
            <a:ext cx="3291840" cy="329184"/>
          </a:xfrm>
          <a:prstGeom prst="rect">
            <a:avLst/>
          </a:prstGeom>
          <a:noFill/>
          <a:ln/>
        </p:spPr>
        <p:txBody>
          <a:bodyPr wrap="square" lIns="0" tIns="0" rIns="0" bIns="0" rtlCol="0" anchor="ctr">
            <a:normAutofit/>
          </a:bodyPr>
          <a:lstStyle/>
          <a:p>
            <a:pPr algn="l" indent="0" marL="0">
              <a:lnSpc>
                <a:spcPct val="112000"/>
              </a:lnSpc>
              <a:buNone/>
            </a:pPr>
            <a:r>
              <a:rPr lang="en-US" sz="1600" dirty="0">
                <a:solidFill>
                  <a:srgbClr val="F2F6FC"/>
                </a:solidFill>
                <a:latin typeface="Aptos" pitchFamily="34" charset="0"/>
                <a:ea typeface="Aptos" pitchFamily="34" charset="-122"/>
                <a:cs typeface="Aptos" pitchFamily="34" charset="-120"/>
              </a:rPr>
              <a:t>Fewer missed required fields</a:t>
            </a:r>
            <a:endParaRPr lang="en-US" sz="1600" dirty="0"/>
          </a:p>
        </p:txBody>
      </p:sp>
      <p:sp>
        <p:nvSpPr>
          <p:cNvPr id="13" name="Text 11"/>
          <p:cNvSpPr txBox="1"/>
          <p:nvPr/>
        </p:nvSpPr>
        <p:spPr>
          <a:xfrm>
            <a:off x="7607808" y="4818888"/>
            <a:ext cx="3383280" cy="329184"/>
          </a:xfrm>
          <a:prstGeom prst="rect">
            <a:avLst/>
          </a:prstGeom>
          <a:noFill/>
          <a:ln/>
        </p:spPr>
        <p:txBody>
          <a:bodyPr wrap="square" lIns="0" tIns="0" rIns="0" bIns="0" rtlCol="0" anchor="ctr">
            <a:normAutofit/>
          </a:bodyPr>
          <a:lstStyle/>
          <a:p>
            <a:pPr algn="l" indent="0" marL="0">
              <a:lnSpc>
                <a:spcPct val="112000"/>
              </a:lnSpc>
              <a:buNone/>
            </a:pPr>
            <a:r>
              <a:rPr lang="en-US" sz="1600" dirty="0">
                <a:solidFill>
                  <a:srgbClr val="F2F6FC"/>
                </a:solidFill>
                <a:latin typeface="Aptos" pitchFamily="34" charset="0"/>
                <a:ea typeface="Aptos" pitchFamily="34" charset="-122"/>
                <a:cs typeface="Aptos" pitchFamily="34" charset="-120"/>
              </a:rPr>
              <a:t>More qualified team introductions</a:t>
            </a:r>
            <a:endParaRPr lang="en-US" sz="1600" dirty="0"/>
          </a:p>
        </p:txBody>
      </p:sp>
      <p:sp>
        <p:nvSpPr>
          <p:cNvPr id="14" name="Text 12"/>
          <p:cNvSpPr txBox="1"/>
          <p:nvPr/>
        </p:nvSpPr>
        <p:spPr>
          <a:xfrm>
            <a:off x="896112" y="5596128"/>
            <a:ext cx="5943600" cy="310896"/>
          </a:xfrm>
          <a:prstGeom prst="rect">
            <a:avLst/>
          </a:prstGeom>
          <a:noFill/>
          <a:ln/>
        </p:spPr>
        <p:txBody>
          <a:bodyPr wrap="square" lIns="0" tIns="0" rIns="0" bIns="0" rtlCol="0" anchor="ctr">
            <a:normAutofit/>
          </a:bodyPr>
          <a:lstStyle/>
          <a:p>
            <a:pPr algn="l" indent="0" marL="0">
              <a:lnSpc>
                <a:spcPct val="112000"/>
              </a:lnSpc>
              <a:buNone/>
            </a:pPr>
            <a:r>
              <a:rPr lang="en-US" sz="1400" i="1" dirty="0">
                <a:solidFill>
                  <a:srgbClr val="A8B5C9"/>
                </a:solidFill>
                <a:latin typeface="Aptos" pitchFamily="34" charset="0"/>
                <a:ea typeface="Aptos" pitchFamily="34" charset="-122"/>
                <a:cs typeface="Aptos" pitchFamily="34" charset="-120"/>
              </a:rPr>
              <a:t>Measure before claiming impact.</a:t>
            </a:r>
            <a:endParaRPr lang="en-US" sz="14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PILOT PLAN</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Measure quality before expanding the feed</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A small campus pilot should answer whether the workflow is accurate and useful.</a:t>
            </a:r>
            <a:endParaRPr lang="en-US" sz="1500" dirty="0"/>
          </a:p>
        </p:txBody>
      </p:sp>
      <p:sp>
        <p:nvSpPr>
          <p:cNvPr id="5" name="Text 3"/>
          <p:cNvSpPr txBox="1"/>
          <p:nvPr/>
        </p:nvSpPr>
        <p:spPr>
          <a:xfrm>
            <a:off x="868680" y="2103120"/>
            <a:ext cx="1508760" cy="219456"/>
          </a:xfrm>
          <a:prstGeom prst="rect">
            <a:avLst/>
          </a:prstGeom>
          <a:noFill/>
          <a:ln/>
        </p:spPr>
        <p:txBody>
          <a:bodyPr wrap="square" lIns="0" tIns="0" rIns="0" bIns="0" rtlCol="0" anchor="ctr">
            <a:normAutofit/>
          </a:bodyPr>
          <a:lstStyle/>
          <a:p>
            <a:pPr algn="l" indent="0" marL="0">
              <a:lnSpc>
                <a:spcPct val="112000"/>
              </a:lnSpc>
              <a:buNone/>
            </a:pPr>
            <a:r>
              <a:rPr lang="en-US" sz="900" b="1" spc="100" kern="0" dirty="0">
                <a:solidFill>
                  <a:srgbClr val="37D7E5"/>
                </a:solidFill>
                <a:latin typeface="Aptos" pitchFamily="34" charset="0"/>
                <a:ea typeface="Aptos" pitchFamily="34" charset="-122"/>
                <a:cs typeface="Aptos" pitchFamily="34" charset="-120"/>
              </a:rPr>
              <a:t>EXTRACTION</a:t>
            </a:r>
            <a:endParaRPr lang="en-US" sz="900" dirty="0"/>
          </a:p>
        </p:txBody>
      </p:sp>
      <p:sp>
        <p:nvSpPr>
          <p:cNvPr id="6" name="Text 4"/>
          <p:cNvSpPr txBox="1"/>
          <p:nvPr/>
        </p:nvSpPr>
        <p:spPr>
          <a:xfrm>
            <a:off x="2487168" y="2066544"/>
            <a:ext cx="3200400" cy="301752"/>
          </a:xfrm>
          <a:prstGeom prst="rect">
            <a:avLst/>
          </a:prstGeom>
          <a:noFill/>
          <a:ln/>
        </p:spPr>
        <p:txBody>
          <a:bodyPr wrap="square" lIns="0" tIns="0" rIns="0" bIns="0" rtlCol="0" anchor="ctr">
            <a:normAutofit/>
          </a:bodyPr>
          <a:lstStyle/>
          <a:p>
            <a:pPr algn="l" indent="0" marL="0">
              <a:lnSpc>
                <a:spcPct val="112000"/>
              </a:lnSpc>
              <a:buNone/>
            </a:pPr>
            <a:r>
              <a:rPr lang="en-US" sz="1600" b="1" dirty="0">
                <a:solidFill>
                  <a:srgbClr val="F2F6FC"/>
                </a:solidFill>
                <a:latin typeface="Aptos Display" pitchFamily="34" charset="0"/>
                <a:ea typeface="Aptos Display" pitchFamily="34" charset="-122"/>
                <a:cs typeface="Aptos Display" pitchFamily="34" charset="-120"/>
              </a:rPr>
              <a:t>Field-level correction rate</a:t>
            </a:r>
            <a:endParaRPr lang="en-US" sz="1600" dirty="0"/>
          </a:p>
        </p:txBody>
      </p:sp>
      <p:sp>
        <p:nvSpPr>
          <p:cNvPr id="7" name="Text 5"/>
          <p:cNvSpPr txBox="1"/>
          <p:nvPr/>
        </p:nvSpPr>
        <p:spPr>
          <a:xfrm>
            <a:off x="5715000" y="2066544"/>
            <a:ext cx="5120640" cy="41148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Did students edit the title, date, eligibility or link?</a:t>
            </a:r>
            <a:endParaRPr lang="en-US" sz="1400" dirty="0"/>
          </a:p>
        </p:txBody>
      </p:sp>
      <p:sp>
        <p:nvSpPr>
          <p:cNvPr id="8" name="Shape 6"/>
          <p:cNvSpPr/>
          <p:nvPr/>
        </p:nvSpPr>
        <p:spPr>
          <a:xfrm>
            <a:off x="877824" y="2624328"/>
            <a:ext cx="10186416" cy="0"/>
          </a:xfrm>
          <a:prstGeom prst="line">
            <a:avLst/>
          </a:prstGeom>
          <a:noFill/>
          <a:ln w="8890">
            <a:solidFill>
              <a:srgbClr val="243149"/>
            </a:solidFill>
            <a:prstDash val="solid"/>
          </a:ln>
        </p:spPr>
      </p:sp>
      <p:sp>
        <p:nvSpPr>
          <p:cNvPr id="9" name="Text 7"/>
          <p:cNvSpPr txBox="1"/>
          <p:nvPr/>
        </p:nvSpPr>
        <p:spPr>
          <a:xfrm>
            <a:off x="868680" y="2935224"/>
            <a:ext cx="1508760" cy="219456"/>
          </a:xfrm>
          <a:prstGeom prst="rect">
            <a:avLst/>
          </a:prstGeom>
          <a:noFill/>
          <a:ln/>
        </p:spPr>
        <p:txBody>
          <a:bodyPr wrap="square" lIns="0" tIns="0" rIns="0" bIns="0" rtlCol="0" anchor="ctr">
            <a:normAutofit/>
          </a:bodyPr>
          <a:lstStyle/>
          <a:p>
            <a:pPr algn="l" indent="0" marL="0">
              <a:lnSpc>
                <a:spcPct val="112000"/>
              </a:lnSpc>
              <a:buNone/>
            </a:pPr>
            <a:r>
              <a:rPr lang="en-US" sz="900" b="1" spc="100" kern="0" dirty="0">
                <a:solidFill>
                  <a:srgbClr val="A985FF"/>
                </a:solidFill>
                <a:latin typeface="Aptos" pitchFamily="34" charset="0"/>
                <a:ea typeface="Aptos" pitchFamily="34" charset="-122"/>
                <a:cs typeface="Aptos" pitchFamily="34" charset="-120"/>
              </a:rPr>
              <a:t>DEADLINES</a:t>
            </a:r>
            <a:endParaRPr lang="en-US" sz="900" dirty="0"/>
          </a:p>
        </p:txBody>
      </p:sp>
      <p:sp>
        <p:nvSpPr>
          <p:cNvPr id="10" name="Text 8"/>
          <p:cNvSpPr txBox="1"/>
          <p:nvPr/>
        </p:nvSpPr>
        <p:spPr>
          <a:xfrm>
            <a:off x="2487168" y="2898648"/>
            <a:ext cx="3200400" cy="301752"/>
          </a:xfrm>
          <a:prstGeom prst="rect">
            <a:avLst/>
          </a:prstGeom>
          <a:noFill/>
          <a:ln/>
        </p:spPr>
        <p:txBody>
          <a:bodyPr wrap="square" lIns="0" tIns="0" rIns="0" bIns="0" rtlCol="0" anchor="ctr">
            <a:normAutofit/>
          </a:bodyPr>
          <a:lstStyle/>
          <a:p>
            <a:pPr algn="l" indent="0" marL="0">
              <a:lnSpc>
                <a:spcPct val="112000"/>
              </a:lnSpc>
              <a:buNone/>
            </a:pPr>
            <a:r>
              <a:rPr lang="en-US" sz="1600" b="1" dirty="0">
                <a:solidFill>
                  <a:srgbClr val="F2F6FC"/>
                </a:solidFill>
                <a:latin typeface="Aptos Display" pitchFamily="34" charset="0"/>
                <a:ea typeface="Aptos Display" pitchFamily="34" charset="-122"/>
                <a:cs typeface="Aptos Display" pitchFamily="34" charset="-120"/>
              </a:rPr>
              <a:t>Reminder usefulness</a:t>
            </a:r>
            <a:endParaRPr lang="en-US" sz="1600" dirty="0"/>
          </a:p>
        </p:txBody>
      </p:sp>
      <p:sp>
        <p:nvSpPr>
          <p:cNvPr id="11" name="Text 9"/>
          <p:cNvSpPr txBox="1"/>
          <p:nvPr/>
        </p:nvSpPr>
        <p:spPr>
          <a:xfrm>
            <a:off x="5715000" y="2898648"/>
            <a:ext cx="5120640" cy="41148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Did saved items receive an on-time reminder while the app was open?</a:t>
            </a:r>
            <a:endParaRPr lang="en-US" sz="1400" dirty="0"/>
          </a:p>
        </p:txBody>
      </p:sp>
      <p:sp>
        <p:nvSpPr>
          <p:cNvPr id="12" name="Shape 10"/>
          <p:cNvSpPr/>
          <p:nvPr/>
        </p:nvSpPr>
        <p:spPr>
          <a:xfrm>
            <a:off x="877824" y="3456432"/>
            <a:ext cx="10186416" cy="0"/>
          </a:xfrm>
          <a:prstGeom prst="line">
            <a:avLst/>
          </a:prstGeom>
          <a:noFill/>
          <a:ln w="8890">
            <a:solidFill>
              <a:srgbClr val="243149"/>
            </a:solidFill>
            <a:prstDash val="solid"/>
          </a:ln>
        </p:spPr>
      </p:sp>
      <p:sp>
        <p:nvSpPr>
          <p:cNvPr id="13" name="Text 11"/>
          <p:cNvSpPr txBox="1"/>
          <p:nvPr/>
        </p:nvSpPr>
        <p:spPr>
          <a:xfrm>
            <a:off x="868680" y="3767328"/>
            <a:ext cx="1508760" cy="219456"/>
          </a:xfrm>
          <a:prstGeom prst="rect">
            <a:avLst/>
          </a:prstGeom>
          <a:noFill/>
          <a:ln/>
        </p:spPr>
        <p:txBody>
          <a:bodyPr wrap="square" lIns="0" tIns="0" rIns="0" bIns="0" rtlCol="0" anchor="ctr">
            <a:normAutofit/>
          </a:bodyPr>
          <a:lstStyle/>
          <a:p>
            <a:pPr algn="l" indent="0" marL="0">
              <a:lnSpc>
                <a:spcPct val="112000"/>
              </a:lnSpc>
              <a:buNone/>
            </a:pPr>
            <a:r>
              <a:rPr lang="en-US" sz="900" b="1" spc="100" kern="0" dirty="0">
                <a:solidFill>
                  <a:srgbClr val="4B83FF"/>
                </a:solidFill>
                <a:latin typeface="Aptos" pitchFamily="34" charset="0"/>
                <a:ea typeface="Aptos" pitchFamily="34" charset="-122"/>
                <a:cs typeface="Aptos" pitchFamily="34" charset="-120"/>
              </a:rPr>
              <a:t>DISCOVERY</a:t>
            </a:r>
            <a:endParaRPr lang="en-US" sz="900" dirty="0"/>
          </a:p>
        </p:txBody>
      </p:sp>
      <p:sp>
        <p:nvSpPr>
          <p:cNvPr id="14" name="Text 12"/>
          <p:cNvSpPr txBox="1"/>
          <p:nvPr/>
        </p:nvSpPr>
        <p:spPr>
          <a:xfrm>
            <a:off x="2487168" y="3730752"/>
            <a:ext cx="3200400" cy="301752"/>
          </a:xfrm>
          <a:prstGeom prst="rect">
            <a:avLst/>
          </a:prstGeom>
          <a:noFill/>
          <a:ln/>
        </p:spPr>
        <p:txBody>
          <a:bodyPr wrap="square" lIns="0" tIns="0" rIns="0" bIns="0" rtlCol="0" anchor="ctr">
            <a:normAutofit/>
          </a:bodyPr>
          <a:lstStyle/>
          <a:p>
            <a:pPr algn="l" indent="0" marL="0">
              <a:lnSpc>
                <a:spcPct val="112000"/>
              </a:lnSpc>
              <a:buNone/>
            </a:pPr>
            <a:r>
              <a:rPr lang="en-US" sz="1600" b="1" dirty="0">
                <a:solidFill>
                  <a:srgbClr val="F2F6FC"/>
                </a:solidFill>
                <a:latin typeface="Aptos Display" pitchFamily="34" charset="0"/>
                <a:ea typeface="Aptos Display" pitchFamily="34" charset="-122"/>
                <a:cs typeface="Aptos Display" pitchFamily="34" charset="-120"/>
              </a:rPr>
              <a:t>Profile opt-in + invite acceptance</a:t>
            </a:r>
            <a:endParaRPr lang="en-US" sz="1600" dirty="0"/>
          </a:p>
        </p:txBody>
      </p:sp>
      <p:sp>
        <p:nvSpPr>
          <p:cNvPr id="15" name="Text 13"/>
          <p:cNvSpPr txBox="1"/>
          <p:nvPr/>
        </p:nvSpPr>
        <p:spPr>
          <a:xfrm>
            <a:off x="5715000" y="3730752"/>
            <a:ext cx="5120640" cy="41148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Did matching lead to a real conversation or team?</a:t>
            </a:r>
            <a:endParaRPr lang="en-US" sz="1400" dirty="0"/>
          </a:p>
        </p:txBody>
      </p:sp>
      <p:sp>
        <p:nvSpPr>
          <p:cNvPr id="16" name="Shape 14"/>
          <p:cNvSpPr/>
          <p:nvPr/>
        </p:nvSpPr>
        <p:spPr>
          <a:xfrm>
            <a:off x="877824" y="4288536"/>
            <a:ext cx="10186416" cy="0"/>
          </a:xfrm>
          <a:prstGeom prst="line">
            <a:avLst/>
          </a:prstGeom>
          <a:noFill/>
          <a:ln w="8890">
            <a:solidFill>
              <a:srgbClr val="243149"/>
            </a:solidFill>
            <a:prstDash val="solid"/>
          </a:ln>
        </p:spPr>
      </p:sp>
      <p:sp>
        <p:nvSpPr>
          <p:cNvPr id="17" name="Text 15"/>
          <p:cNvSpPr txBox="1"/>
          <p:nvPr/>
        </p:nvSpPr>
        <p:spPr>
          <a:xfrm>
            <a:off x="868680" y="4599432"/>
            <a:ext cx="1508760" cy="219456"/>
          </a:xfrm>
          <a:prstGeom prst="rect">
            <a:avLst/>
          </a:prstGeom>
          <a:noFill/>
          <a:ln/>
        </p:spPr>
        <p:txBody>
          <a:bodyPr wrap="square" lIns="0" tIns="0" rIns="0" bIns="0" rtlCol="0" anchor="ctr">
            <a:normAutofit/>
          </a:bodyPr>
          <a:lstStyle/>
          <a:p>
            <a:pPr algn="l" indent="0" marL="0">
              <a:lnSpc>
                <a:spcPct val="112000"/>
              </a:lnSpc>
              <a:buNone/>
            </a:pPr>
            <a:r>
              <a:rPr lang="en-US" sz="900" b="1" spc="100" kern="0" dirty="0">
                <a:solidFill>
                  <a:srgbClr val="F7C15D"/>
                </a:solidFill>
                <a:latin typeface="Aptos" pitchFamily="34" charset="0"/>
                <a:ea typeface="Aptos" pitchFamily="34" charset="-122"/>
                <a:cs typeface="Aptos" pitchFamily="34" charset="-120"/>
              </a:rPr>
              <a:t>TRUST</a:t>
            </a:r>
            <a:endParaRPr lang="en-US" sz="900" dirty="0"/>
          </a:p>
        </p:txBody>
      </p:sp>
      <p:sp>
        <p:nvSpPr>
          <p:cNvPr id="18" name="Text 16"/>
          <p:cNvSpPr txBox="1"/>
          <p:nvPr/>
        </p:nvSpPr>
        <p:spPr>
          <a:xfrm>
            <a:off x="2487168" y="4562856"/>
            <a:ext cx="3200400" cy="301752"/>
          </a:xfrm>
          <a:prstGeom prst="rect">
            <a:avLst/>
          </a:prstGeom>
          <a:noFill/>
          <a:ln/>
        </p:spPr>
        <p:txBody>
          <a:bodyPr wrap="square" lIns="0" tIns="0" rIns="0" bIns="0" rtlCol="0" anchor="ctr">
            <a:normAutofit/>
          </a:bodyPr>
          <a:lstStyle/>
          <a:p>
            <a:pPr algn="l" indent="0" marL="0">
              <a:lnSpc>
                <a:spcPct val="112000"/>
              </a:lnSpc>
              <a:buNone/>
            </a:pPr>
            <a:r>
              <a:rPr lang="en-US" sz="1600" b="1" dirty="0">
                <a:solidFill>
                  <a:srgbClr val="F2F6FC"/>
                </a:solidFill>
                <a:latin typeface="Aptos Display" pitchFamily="34" charset="0"/>
                <a:ea typeface="Aptos Display" pitchFamily="34" charset="-122"/>
                <a:cs typeface="Aptos Display" pitchFamily="34" charset="-120"/>
              </a:rPr>
              <a:t>Source verification rate</a:t>
            </a:r>
            <a:endParaRPr lang="en-US" sz="1600" dirty="0"/>
          </a:p>
        </p:txBody>
      </p:sp>
      <p:sp>
        <p:nvSpPr>
          <p:cNvPr id="19" name="Text 17"/>
          <p:cNvSpPr txBox="1"/>
          <p:nvPr/>
        </p:nvSpPr>
        <p:spPr>
          <a:xfrm>
            <a:off x="5715000" y="4562856"/>
            <a:ext cx="5120640" cy="41148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Were source links available and checked before applying?</a:t>
            </a:r>
            <a:endParaRPr lang="en-US" sz="1400" dirty="0"/>
          </a:p>
        </p:txBody>
      </p:sp>
      <p:sp>
        <p:nvSpPr>
          <p:cNvPr id="20" name="Text 18"/>
          <p:cNvSpPr txBox="1"/>
          <p:nvPr/>
        </p:nvSpPr>
        <p:spPr>
          <a:xfrm>
            <a:off x="896112" y="5742432"/>
            <a:ext cx="9601200" cy="310896"/>
          </a:xfrm>
          <a:prstGeom prst="rect">
            <a:avLst/>
          </a:prstGeom>
          <a:noFill/>
          <a:ln/>
        </p:spPr>
        <p:txBody>
          <a:bodyPr wrap="square" lIns="0" tIns="0" rIns="0" bIns="0" rtlCol="0" anchor="ctr">
            <a:normAutofit/>
          </a:bodyPr>
          <a:lstStyle/>
          <a:p>
            <a:pPr algn="l" indent="0" marL="0">
              <a:lnSpc>
                <a:spcPct val="112000"/>
              </a:lnSpc>
              <a:buNone/>
            </a:pPr>
            <a:r>
              <a:rPr lang="en-US" sz="1400" b="1" dirty="0">
                <a:solidFill>
                  <a:srgbClr val="37D7E5"/>
                </a:solidFill>
                <a:latin typeface="Aptos" pitchFamily="34" charset="0"/>
                <a:ea typeface="Aptos" pitchFamily="34" charset="-122"/>
                <a:cs typeface="Aptos" pitchFamily="34" charset="-120"/>
              </a:rPr>
              <a:t>Start with one student group and a human-reviewed notice set.</a:t>
            </a:r>
            <a:endParaRPr lang="en-US" sz="14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LIVE DEMO</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A five-minute prototype walkthrough</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Use a real notice and keep the original source visible for verification.</a:t>
            </a:r>
            <a:endParaRPr lang="en-US" sz="1500" dirty="0"/>
          </a:p>
        </p:txBody>
      </p:sp>
      <p:sp>
        <p:nvSpPr>
          <p:cNvPr id="5" name="Text 3"/>
          <p:cNvSpPr txBox="1"/>
          <p:nvPr/>
        </p:nvSpPr>
        <p:spPr>
          <a:xfrm>
            <a:off x="868680" y="1984248"/>
            <a:ext cx="640080" cy="256032"/>
          </a:xfrm>
          <a:prstGeom prst="rect">
            <a:avLst/>
          </a:prstGeom>
          <a:noFill/>
          <a:ln/>
        </p:spPr>
        <p:txBody>
          <a:bodyPr wrap="square" lIns="0" tIns="0" rIns="0" bIns="0" rtlCol="0" anchor="ctr">
            <a:normAutofit/>
          </a:bodyPr>
          <a:lstStyle/>
          <a:p>
            <a:pPr algn="l" indent="0" marL="0">
              <a:lnSpc>
                <a:spcPct val="112000"/>
              </a:lnSpc>
              <a:buNone/>
            </a:pPr>
            <a:r>
              <a:rPr lang="en-US" sz="1100" b="1" dirty="0">
                <a:solidFill>
                  <a:srgbClr val="37D7E5"/>
                </a:solidFill>
                <a:latin typeface="Aptos" pitchFamily="34" charset="0"/>
                <a:ea typeface="Aptos" pitchFamily="34" charset="-122"/>
                <a:cs typeface="Aptos" pitchFamily="34" charset="-120"/>
              </a:rPr>
              <a:t>0:00</a:t>
            </a:r>
            <a:endParaRPr lang="en-US" sz="1100" dirty="0"/>
          </a:p>
        </p:txBody>
      </p:sp>
      <p:sp>
        <p:nvSpPr>
          <p:cNvPr id="6" name="Text 4"/>
          <p:cNvSpPr txBox="1"/>
          <p:nvPr/>
        </p:nvSpPr>
        <p:spPr>
          <a:xfrm>
            <a:off x="1700784" y="1956816"/>
            <a:ext cx="1508760" cy="310896"/>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Sign in</a:t>
            </a:r>
            <a:endParaRPr lang="en-US" sz="1500" dirty="0"/>
          </a:p>
        </p:txBody>
      </p:sp>
      <p:sp>
        <p:nvSpPr>
          <p:cNvPr id="7" name="Text 5"/>
          <p:cNvSpPr txBox="1"/>
          <p:nvPr/>
        </p:nvSpPr>
        <p:spPr>
          <a:xfrm>
            <a:off x="3401568" y="1965960"/>
            <a:ext cx="7360920" cy="36576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Open the authenticated dashboard; show a saved deadline panel.</a:t>
            </a:r>
            <a:endParaRPr lang="en-US" sz="1400" dirty="0"/>
          </a:p>
        </p:txBody>
      </p:sp>
      <p:sp>
        <p:nvSpPr>
          <p:cNvPr id="8" name="Text 6"/>
          <p:cNvSpPr txBox="1"/>
          <p:nvPr/>
        </p:nvSpPr>
        <p:spPr>
          <a:xfrm>
            <a:off x="868680" y="2596896"/>
            <a:ext cx="640080" cy="256032"/>
          </a:xfrm>
          <a:prstGeom prst="rect">
            <a:avLst/>
          </a:prstGeom>
          <a:noFill/>
          <a:ln/>
        </p:spPr>
        <p:txBody>
          <a:bodyPr wrap="square" lIns="0" tIns="0" rIns="0" bIns="0" rtlCol="0" anchor="ctr">
            <a:normAutofit/>
          </a:bodyPr>
          <a:lstStyle/>
          <a:p>
            <a:pPr algn="l" indent="0" marL="0">
              <a:lnSpc>
                <a:spcPct val="112000"/>
              </a:lnSpc>
              <a:buNone/>
            </a:pPr>
            <a:r>
              <a:rPr lang="en-US" sz="1100" b="1" dirty="0">
                <a:solidFill>
                  <a:srgbClr val="37D7E5"/>
                </a:solidFill>
                <a:latin typeface="Aptos" pitchFamily="34" charset="0"/>
                <a:ea typeface="Aptos" pitchFamily="34" charset="-122"/>
                <a:cs typeface="Aptos" pitchFamily="34" charset="-120"/>
              </a:rPr>
              <a:t>0:40</a:t>
            </a:r>
            <a:endParaRPr lang="en-US" sz="1100" dirty="0"/>
          </a:p>
        </p:txBody>
      </p:sp>
      <p:sp>
        <p:nvSpPr>
          <p:cNvPr id="9" name="Text 7"/>
          <p:cNvSpPr txBox="1"/>
          <p:nvPr/>
        </p:nvSpPr>
        <p:spPr>
          <a:xfrm>
            <a:off x="1700784" y="2569464"/>
            <a:ext cx="1508760" cy="310896"/>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Extract</a:t>
            </a:r>
            <a:endParaRPr lang="en-US" sz="1500" dirty="0"/>
          </a:p>
        </p:txBody>
      </p:sp>
      <p:sp>
        <p:nvSpPr>
          <p:cNvPr id="10" name="Text 8"/>
          <p:cNvSpPr txBox="1"/>
          <p:nvPr/>
        </p:nvSpPr>
        <p:spPr>
          <a:xfrm>
            <a:off x="3401568" y="2578608"/>
            <a:ext cx="7360920" cy="36576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Paste a WhatsApp notice or upload a poster/PDF; run extraction.</a:t>
            </a:r>
            <a:endParaRPr lang="en-US" sz="1400" dirty="0"/>
          </a:p>
        </p:txBody>
      </p:sp>
      <p:sp>
        <p:nvSpPr>
          <p:cNvPr id="11" name="Text 9"/>
          <p:cNvSpPr txBox="1"/>
          <p:nvPr/>
        </p:nvSpPr>
        <p:spPr>
          <a:xfrm>
            <a:off x="868680" y="3209544"/>
            <a:ext cx="640080" cy="256032"/>
          </a:xfrm>
          <a:prstGeom prst="rect">
            <a:avLst/>
          </a:prstGeom>
          <a:noFill/>
          <a:ln/>
        </p:spPr>
        <p:txBody>
          <a:bodyPr wrap="square" lIns="0" tIns="0" rIns="0" bIns="0" rtlCol="0" anchor="ctr">
            <a:normAutofit/>
          </a:bodyPr>
          <a:lstStyle/>
          <a:p>
            <a:pPr algn="l" indent="0" marL="0">
              <a:lnSpc>
                <a:spcPct val="112000"/>
              </a:lnSpc>
              <a:buNone/>
            </a:pPr>
            <a:r>
              <a:rPr lang="en-US" sz="1100" b="1" dirty="0">
                <a:solidFill>
                  <a:srgbClr val="37D7E5"/>
                </a:solidFill>
                <a:latin typeface="Aptos" pitchFamily="34" charset="0"/>
                <a:ea typeface="Aptos" pitchFamily="34" charset="-122"/>
                <a:cs typeface="Aptos" pitchFamily="34" charset="-120"/>
              </a:rPr>
              <a:t>1:45</a:t>
            </a:r>
            <a:endParaRPr lang="en-US" sz="1100" dirty="0"/>
          </a:p>
        </p:txBody>
      </p:sp>
      <p:sp>
        <p:nvSpPr>
          <p:cNvPr id="12" name="Text 10"/>
          <p:cNvSpPr txBox="1"/>
          <p:nvPr/>
        </p:nvSpPr>
        <p:spPr>
          <a:xfrm>
            <a:off x="1700784" y="3182112"/>
            <a:ext cx="1508760" cy="310896"/>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Review + save</a:t>
            </a:r>
            <a:endParaRPr lang="en-US" sz="1500" dirty="0"/>
          </a:p>
        </p:txBody>
      </p:sp>
      <p:sp>
        <p:nvSpPr>
          <p:cNvPr id="13" name="Text 11"/>
          <p:cNvSpPr txBox="1"/>
          <p:nvPr/>
        </p:nvSpPr>
        <p:spPr>
          <a:xfrm>
            <a:off x="3401568" y="3191256"/>
            <a:ext cx="7360920" cy="36576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Edit one field, check the source link, then save to the Radar.</a:t>
            </a:r>
            <a:endParaRPr lang="en-US" sz="1400" dirty="0"/>
          </a:p>
        </p:txBody>
      </p:sp>
      <p:sp>
        <p:nvSpPr>
          <p:cNvPr id="14" name="Text 12"/>
          <p:cNvSpPr txBox="1"/>
          <p:nvPr/>
        </p:nvSpPr>
        <p:spPr>
          <a:xfrm>
            <a:off x="868680" y="3822192"/>
            <a:ext cx="640080" cy="256032"/>
          </a:xfrm>
          <a:prstGeom prst="rect">
            <a:avLst/>
          </a:prstGeom>
          <a:noFill/>
          <a:ln/>
        </p:spPr>
        <p:txBody>
          <a:bodyPr wrap="square" lIns="0" tIns="0" rIns="0" bIns="0" rtlCol="0" anchor="ctr">
            <a:normAutofit/>
          </a:bodyPr>
          <a:lstStyle/>
          <a:p>
            <a:pPr algn="l" indent="0" marL="0">
              <a:lnSpc>
                <a:spcPct val="112000"/>
              </a:lnSpc>
              <a:buNone/>
            </a:pPr>
            <a:r>
              <a:rPr lang="en-US" sz="1100" b="1" dirty="0">
                <a:solidFill>
                  <a:srgbClr val="37D7E5"/>
                </a:solidFill>
                <a:latin typeface="Aptos" pitchFamily="34" charset="0"/>
                <a:ea typeface="Aptos" pitchFamily="34" charset="-122"/>
                <a:cs typeface="Aptos" pitchFamily="34" charset="-120"/>
              </a:rPr>
              <a:t>2:40</a:t>
            </a:r>
            <a:endParaRPr lang="en-US" sz="1100" dirty="0"/>
          </a:p>
        </p:txBody>
      </p:sp>
      <p:sp>
        <p:nvSpPr>
          <p:cNvPr id="15" name="Text 13"/>
          <p:cNvSpPr txBox="1"/>
          <p:nvPr/>
        </p:nvSpPr>
        <p:spPr>
          <a:xfrm>
            <a:off x="1700784" y="3794760"/>
            <a:ext cx="1508760" cy="310896"/>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Track</a:t>
            </a:r>
            <a:endParaRPr lang="en-US" sz="1500" dirty="0"/>
          </a:p>
        </p:txBody>
      </p:sp>
      <p:sp>
        <p:nvSpPr>
          <p:cNvPr id="16" name="Text 14"/>
          <p:cNvSpPr txBox="1"/>
          <p:nvPr/>
        </p:nvSpPr>
        <p:spPr>
          <a:xfrm>
            <a:off x="3401568" y="3803904"/>
            <a:ext cx="7360920" cy="36576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Open Radar, mark Interested, and return to the dashboard reminders.</a:t>
            </a:r>
            <a:endParaRPr lang="en-US" sz="1400" dirty="0"/>
          </a:p>
        </p:txBody>
      </p:sp>
      <p:sp>
        <p:nvSpPr>
          <p:cNvPr id="17" name="Text 15"/>
          <p:cNvSpPr txBox="1"/>
          <p:nvPr/>
        </p:nvSpPr>
        <p:spPr>
          <a:xfrm>
            <a:off x="868680" y="4434840"/>
            <a:ext cx="640080" cy="256032"/>
          </a:xfrm>
          <a:prstGeom prst="rect">
            <a:avLst/>
          </a:prstGeom>
          <a:noFill/>
          <a:ln/>
        </p:spPr>
        <p:txBody>
          <a:bodyPr wrap="square" lIns="0" tIns="0" rIns="0" bIns="0" rtlCol="0" anchor="ctr">
            <a:normAutofit/>
          </a:bodyPr>
          <a:lstStyle/>
          <a:p>
            <a:pPr algn="l" indent="0" marL="0">
              <a:lnSpc>
                <a:spcPct val="112000"/>
              </a:lnSpc>
              <a:buNone/>
            </a:pPr>
            <a:r>
              <a:rPr lang="en-US" sz="1100" b="1" dirty="0">
                <a:solidFill>
                  <a:srgbClr val="37D7E5"/>
                </a:solidFill>
                <a:latin typeface="Aptos" pitchFamily="34" charset="0"/>
                <a:ea typeface="Aptos" pitchFamily="34" charset="-122"/>
                <a:cs typeface="Aptos" pitchFamily="34" charset="-120"/>
              </a:rPr>
              <a:t>3:35</a:t>
            </a:r>
            <a:endParaRPr lang="en-US" sz="1100" dirty="0"/>
          </a:p>
        </p:txBody>
      </p:sp>
      <p:sp>
        <p:nvSpPr>
          <p:cNvPr id="18" name="Text 16"/>
          <p:cNvSpPr txBox="1"/>
          <p:nvPr/>
        </p:nvSpPr>
        <p:spPr>
          <a:xfrm>
            <a:off x="1700784" y="4407408"/>
            <a:ext cx="1508760" cy="310896"/>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Find collaborators</a:t>
            </a:r>
            <a:endParaRPr lang="en-US" sz="1500" dirty="0"/>
          </a:p>
        </p:txBody>
      </p:sp>
      <p:sp>
        <p:nvSpPr>
          <p:cNvPr id="19" name="Text 17"/>
          <p:cNvSpPr txBox="1"/>
          <p:nvPr/>
        </p:nvSpPr>
        <p:spPr>
          <a:xfrm>
            <a:off x="3401568" y="4416552"/>
            <a:ext cx="7360920" cy="36576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Show profile fields and opt-in; submit a project requirement.</a:t>
            </a:r>
            <a:endParaRPr lang="en-US" sz="1400" dirty="0"/>
          </a:p>
        </p:txBody>
      </p:sp>
      <p:sp>
        <p:nvSpPr>
          <p:cNvPr id="20" name="Text 18"/>
          <p:cNvSpPr txBox="1"/>
          <p:nvPr/>
        </p:nvSpPr>
        <p:spPr>
          <a:xfrm>
            <a:off x="868680" y="5047488"/>
            <a:ext cx="640080" cy="256032"/>
          </a:xfrm>
          <a:prstGeom prst="rect">
            <a:avLst/>
          </a:prstGeom>
          <a:noFill/>
          <a:ln/>
        </p:spPr>
        <p:txBody>
          <a:bodyPr wrap="square" lIns="0" tIns="0" rIns="0" bIns="0" rtlCol="0" anchor="ctr">
            <a:normAutofit/>
          </a:bodyPr>
          <a:lstStyle/>
          <a:p>
            <a:pPr algn="l" indent="0" marL="0">
              <a:lnSpc>
                <a:spcPct val="112000"/>
              </a:lnSpc>
              <a:buNone/>
            </a:pPr>
            <a:r>
              <a:rPr lang="en-US" sz="1100" b="1" dirty="0">
                <a:solidFill>
                  <a:srgbClr val="37D7E5"/>
                </a:solidFill>
                <a:latin typeface="Aptos" pitchFamily="34" charset="0"/>
                <a:ea typeface="Aptos" pitchFamily="34" charset="-122"/>
                <a:cs typeface="Aptos" pitchFamily="34" charset="-120"/>
              </a:rPr>
              <a:t>4:30</a:t>
            </a:r>
            <a:endParaRPr lang="en-US" sz="1100" dirty="0"/>
          </a:p>
        </p:txBody>
      </p:sp>
      <p:sp>
        <p:nvSpPr>
          <p:cNvPr id="21" name="Text 19"/>
          <p:cNvSpPr txBox="1"/>
          <p:nvPr/>
        </p:nvSpPr>
        <p:spPr>
          <a:xfrm>
            <a:off x="1700784" y="5020056"/>
            <a:ext cx="1508760" cy="310896"/>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Close honestly</a:t>
            </a:r>
            <a:endParaRPr lang="en-US" sz="1500" dirty="0"/>
          </a:p>
        </p:txBody>
      </p:sp>
      <p:sp>
        <p:nvSpPr>
          <p:cNvPr id="22" name="Text 20"/>
          <p:cNvSpPr txBox="1"/>
          <p:nvPr/>
        </p:nvSpPr>
        <p:spPr>
          <a:xfrm>
            <a:off x="3401568" y="5029200"/>
            <a:ext cx="7360920" cy="365760"/>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Explain that recommendations need other real students to opt in.</a:t>
            </a:r>
            <a:endParaRPr lang="en-US" sz="14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PROTOTYPE STATUS</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What is working today—and what is not</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A clear boundary makes the prototype easier to judge and improve.</a:t>
            </a:r>
            <a:endParaRPr lang="en-US" sz="1500" dirty="0"/>
          </a:p>
        </p:txBody>
      </p:sp>
      <p:sp>
        <p:nvSpPr>
          <p:cNvPr id="5" name="Text 3"/>
          <p:cNvSpPr txBox="1"/>
          <p:nvPr/>
        </p:nvSpPr>
        <p:spPr>
          <a:xfrm>
            <a:off x="877824" y="2148840"/>
            <a:ext cx="2103120" cy="219456"/>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59D6A3"/>
                </a:solidFill>
                <a:latin typeface="Aptos" pitchFamily="34" charset="0"/>
                <a:ea typeface="Aptos" pitchFamily="34" charset="-122"/>
                <a:cs typeface="Aptos" pitchFamily="34" charset="-120"/>
              </a:rPr>
              <a:t>IMPLEMENTED</a:t>
            </a:r>
            <a:endParaRPr lang="en-US" sz="1000" dirty="0"/>
          </a:p>
        </p:txBody>
      </p:sp>
      <p:sp>
        <p:nvSpPr>
          <p:cNvPr id="6" name="Text 4"/>
          <p:cNvSpPr txBox="1"/>
          <p:nvPr/>
        </p:nvSpPr>
        <p:spPr>
          <a:xfrm>
            <a:off x="877824" y="2514600"/>
            <a:ext cx="4800600" cy="310896"/>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F2F6FC"/>
                </a:solidFill>
                <a:latin typeface="Aptos" pitchFamily="34" charset="0"/>
                <a:ea typeface="Aptos" pitchFamily="34" charset="-122"/>
                <a:cs typeface="Aptos" pitchFamily="34" charset="-120"/>
              </a:rPr>
              <a:t>✓  Email authentication + student profiles</a:t>
            </a:r>
            <a:endParaRPr lang="en-US" sz="1400" dirty="0"/>
          </a:p>
        </p:txBody>
      </p:sp>
      <p:sp>
        <p:nvSpPr>
          <p:cNvPr id="7" name="Text 5"/>
          <p:cNvSpPr txBox="1"/>
          <p:nvPr/>
        </p:nvSpPr>
        <p:spPr>
          <a:xfrm>
            <a:off x="877824" y="2990088"/>
            <a:ext cx="4800600" cy="310896"/>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F2F6FC"/>
                </a:solidFill>
                <a:latin typeface="Aptos" pitchFamily="34" charset="0"/>
                <a:ea typeface="Aptos" pitchFamily="34" charset="-122"/>
                <a:cs typeface="Aptos" pitchFamily="34" charset="-120"/>
              </a:rPr>
              <a:t>✓  Supabase-backed opportunities and saved statuses</a:t>
            </a:r>
            <a:endParaRPr lang="en-US" sz="1400" dirty="0"/>
          </a:p>
        </p:txBody>
      </p:sp>
      <p:sp>
        <p:nvSpPr>
          <p:cNvPr id="8" name="Text 6"/>
          <p:cNvSpPr txBox="1"/>
          <p:nvPr/>
        </p:nvSpPr>
        <p:spPr>
          <a:xfrm>
            <a:off x="877824" y="3465576"/>
            <a:ext cx="4800600" cy="310896"/>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F2F6FC"/>
                </a:solidFill>
                <a:latin typeface="Aptos" pitchFamily="34" charset="0"/>
                <a:ea typeface="Aptos" pitchFamily="34" charset="-122"/>
                <a:cs typeface="Aptos" pitchFamily="34" charset="-120"/>
              </a:rPr>
              <a:t>✓  Gemini notice extraction with editable review</a:t>
            </a:r>
            <a:endParaRPr lang="en-US" sz="1400" dirty="0"/>
          </a:p>
        </p:txBody>
      </p:sp>
      <p:sp>
        <p:nvSpPr>
          <p:cNvPr id="9" name="Text 7"/>
          <p:cNvSpPr txBox="1"/>
          <p:nvPr/>
        </p:nvSpPr>
        <p:spPr>
          <a:xfrm>
            <a:off x="877824" y="3941064"/>
            <a:ext cx="4800600" cy="310896"/>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F2F6FC"/>
                </a:solidFill>
                <a:latin typeface="Aptos" pitchFamily="34" charset="0"/>
                <a:ea typeface="Aptos" pitchFamily="34" charset="-122"/>
                <a:cs typeface="Aptos" pitchFamily="34" charset="-120"/>
              </a:rPr>
              <a:t>✓  Radar, deadline panel and browser alerts</a:t>
            </a:r>
            <a:endParaRPr lang="en-US" sz="1400" dirty="0"/>
          </a:p>
        </p:txBody>
      </p:sp>
      <p:sp>
        <p:nvSpPr>
          <p:cNvPr id="10" name="Text 8"/>
          <p:cNvSpPr txBox="1"/>
          <p:nvPr/>
        </p:nvSpPr>
        <p:spPr>
          <a:xfrm>
            <a:off x="877824" y="4416552"/>
            <a:ext cx="4800600" cy="310896"/>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F2F6FC"/>
                </a:solidFill>
                <a:latin typeface="Aptos" pitchFamily="34" charset="0"/>
                <a:ea typeface="Aptos" pitchFamily="34" charset="-122"/>
                <a:cs typeface="Aptos" pitchFamily="34" charset="-120"/>
              </a:rPr>
              <a:t>✓  Opt-in Team Matcher with scoring + explanations</a:t>
            </a:r>
            <a:endParaRPr lang="en-US" sz="1400" dirty="0"/>
          </a:p>
        </p:txBody>
      </p:sp>
      <p:sp>
        <p:nvSpPr>
          <p:cNvPr id="11" name="Shape 9"/>
          <p:cNvSpPr/>
          <p:nvPr/>
        </p:nvSpPr>
        <p:spPr>
          <a:xfrm>
            <a:off x="6016752" y="2148840"/>
            <a:ext cx="0" cy="3154680"/>
          </a:xfrm>
          <a:prstGeom prst="line">
            <a:avLst/>
          </a:prstGeom>
          <a:noFill/>
          <a:ln w="12700">
            <a:solidFill>
              <a:srgbClr val="243149"/>
            </a:solidFill>
            <a:prstDash val="solid"/>
          </a:ln>
        </p:spPr>
      </p:sp>
      <p:sp>
        <p:nvSpPr>
          <p:cNvPr id="12" name="Text 10"/>
          <p:cNvSpPr txBox="1"/>
          <p:nvPr/>
        </p:nvSpPr>
        <p:spPr>
          <a:xfrm>
            <a:off x="6336792" y="2148840"/>
            <a:ext cx="3566160" cy="219456"/>
          </a:xfrm>
          <a:prstGeom prst="rect">
            <a:avLst/>
          </a:prstGeom>
          <a:noFill/>
          <a:ln/>
        </p:spPr>
        <p:txBody>
          <a:bodyPr wrap="square" lIns="0" tIns="0" rIns="0" bIns="0" rtlCol="0" anchor="ctr">
            <a:normAutofit/>
          </a:bodyPr>
          <a:lstStyle/>
          <a:p>
            <a:pPr algn="l" indent="0" marL="0">
              <a:lnSpc>
                <a:spcPct val="112000"/>
              </a:lnSpc>
              <a:buNone/>
            </a:pPr>
            <a:r>
              <a:rPr lang="en-US" sz="1000" b="1" spc="110" kern="0" dirty="0">
                <a:solidFill>
                  <a:srgbClr val="F7C15D"/>
                </a:solidFill>
                <a:latin typeface="Aptos" pitchFamily="34" charset="0"/>
                <a:ea typeface="Aptos" pitchFamily="34" charset="-122"/>
                <a:cs typeface="Aptos" pitchFamily="34" charset="-120"/>
              </a:rPr>
              <a:t>LIMITS TO SAY OUT LOUD</a:t>
            </a:r>
            <a:endParaRPr lang="en-US" sz="1000" dirty="0"/>
          </a:p>
        </p:txBody>
      </p:sp>
      <p:sp>
        <p:nvSpPr>
          <p:cNvPr id="13" name="Text 11"/>
          <p:cNvSpPr txBox="1"/>
          <p:nvPr/>
        </p:nvSpPr>
        <p:spPr>
          <a:xfrm>
            <a:off x="6336792" y="2587752"/>
            <a:ext cx="4663440" cy="384048"/>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  No continuous campus-wide web crawler</a:t>
            </a:r>
            <a:endParaRPr lang="en-US" sz="1400" dirty="0"/>
          </a:p>
        </p:txBody>
      </p:sp>
      <p:sp>
        <p:nvSpPr>
          <p:cNvPr id="14" name="Text 12"/>
          <p:cNvSpPr txBox="1"/>
          <p:nvPr/>
        </p:nvSpPr>
        <p:spPr>
          <a:xfrm>
            <a:off x="6336792" y="3182112"/>
            <a:ext cx="4663440" cy="384048"/>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  No email/SMS or closed-browser push reminders</a:t>
            </a:r>
            <a:endParaRPr lang="en-US" sz="1400" dirty="0"/>
          </a:p>
        </p:txBody>
      </p:sp>
      <p:sp>
        <p:nvSpPr>
          <p:cNvPr id="15" name="Text 13"/>
          <p:cNvSpPr txBox="1"/>
          <p:nvPr/>
        </p:nvSpPr>
        <p:spPr>
          <a:xfrm>
            <a:off x="6336792" y="3776472"/>
            <a:ext cx="4663440" cy="384048"/>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  AI output still needs source review</a:t>
            </a:r>
            <a:endParaRPr lang="en-US" sz="1400" dirty="0"/>
          </a:p>
        </p:txBody>
      </p:sp>
      <p:sp>
        <p:nvSpPr>
          <p:cNvPr id="16" name="Text 14"/>
          <p:cNvSpPr txBox="1"/>
          <p:nvPr/>
        </p:nvSpPr>
        <p:spPr>
          <a:xfrm>
            <a:off x="6336792" y="4370832"/>
            <a:ext cx="4663440" cy="384048"/>
          </a:xfrm>
          <a:prstGeom prst="rect">
            <a:avLst/>
          </a:prstGeom>
          <a:noFill/>
          <a:ln/>
        </p:spPr>
        <p:txBody>
          <a:bodyPr wrap="square" lIns="0" tIns="0" rIns="0" bIns="0" rtlCol="0" anchor="ctr">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  Recommendations need multiple opted-in profiles</a:t>
            </a:r>
            <a:endParaRPr lang="en-US" sz="1400" dirty="0"/>
          </a:p>
        </p:txBody>
      </p:sp>
      <p:sp>
        <p:nvSpPr>
          <p:cNvPr id="17" name="Text 15"/>
          <p:cNvSpPr txBox="1"/>
          <p:nvPr/>
        </p:nvSpPr>
        <p:spPr>
          <a:xfrm>
            <a:off x="896112" y="5486400"/>
            <a:ext cx="10332720" cy="329184"/>
          </a:xfrm>
          <a:prstGeom prst="rect">
            <a:avLst/>
          </a:prstGeom>
          <a:noFill/>
          <a:ln/>
        </p:spPr>
        <p:txBody>
          <a:bodyPr wrap="square" lIns="0" tIns="0" rIns="0" bIns="0" rtlCol="0" anchor="ctr">
            <a:normAutofit/>
          </a:bodyPr>
          <a:lstStyle/>
          <a:p>
            <a:pPr algn="l" indent="0" marL="0">
              <a:lnSpc>
                <a:spcPct val="112000"/>
              </a:lnSpc>
              <a:buNone/>
            </a:pPr>
            <a:r>
              <a:rPr lang="en-US" sz="1400" b="1" dirty="0">
                <a:solidFill>
                  <a:srgbClr val="37D7E5"/>
                </a:solidFill>
                <a:latin typeface="Aptos" pitchFamily="34" charset="0"/>
                <a:ea typeface="Aptos" pitchFamily="34" charset="-122"/>
                <a:cs typeface="Aptos" pitchFamily="34" charset="-120"/>
              </a:rPr>
              <a:t>The feed is database-backed; ongoing sourcing is an operational task.</a:t>
            </a:r>
            <a:endParaRPr lang="en-US" sz="14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NEXT STEPS</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A practical path from prototype to campus pilot</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Each step adds operational reliability without taking control away from students.</a:t>
            </a:r>
            <a:endParaRPr lang="en-US" sz="1500" dirty="0"/>
          </a:p>
        </p:txBody>
      </p:sp>
      <p:sp>
        <p:nvSpPr>
          <p:cNvPr id="5" name="Text 3"/>
          <p:cNvSpPr txBox="1"/>
          <p:nvPr/>
        </p:nvSpPr>
        <p:spPr>
          <a:xfrm>
            <a:off x="841248" y="2423160"/>
            <a:ext cx="2286000" cy="219456"/>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37D7E5"/>
                </a:solidFill>
                <a:latin typeface="Aptos" pitchFamily="34" charset="0"/>
                <a:ea typeface="Aptos" pitchFamily="34" charset="-122"/>
                <a:cs typeface="Aptos" pitchFamily="34" charset="-120"/>
              </a:rPr>
              <a:t>NOW</a:t>
            </a:r>
            <a:endParaRPr lang="en-US" sz="1000" dirty="0"/>
          </a:p>
        </p:txBody>
      </p:sp>
      <p:sp>
        <p:nvSpPr>
          <p:cNvPr id="6" name="Text 4"/>
          <p:cNvSpPr txBox="1"/>
          <p:nvPr/>
        </p:nvSpPr>
        <p:spPr>
          <a:xfrm>
            <a:off x="841248" y="2816352"/>
            <a:ext cx="2286000" cy="347472"/>
          </a:xfrm>
          <a:prstGeom prst="rect">
            <a:avLst/>
          </a:prstGeom>
          <a:noFill/>
          <a:ln/>
        </p:spPr>
        <p:txBody>
          <a:bodyPr wrap="square" lIns="0" tIns="0" rIns="0" bIns="0" rtlCol="0" anchor="ctr">
            <a:normAutofit/>
          </a:bodyPr>
          <a:lstStyle/>
          <a:p>
            <a:pPr algn="l" indent="0" marL="0">
              <a:lnSpc>
                <a:spcPct val="112000"/>
              </a:lnSpc>
              <a:buNone/>
            </a:pPr>
            <a:r>
              <a:rPr lang="en-US" sz="1900" b="1" dirty="0">
                <a:solidFill>
                  <a:srgbClr val="F2F6FC"/>
                </a:solidFill>
                <a:latin typeface="Aptos Display" pitchFamily="34" charset="0"/>
                <a:ea typeface="Aptos Display" pitchFamily="34" charset="-122"/>
                <a:cs typeface="Aptos Display" pitchFamily="34" charset="-120"/>
              </a:rPr>
              <a:t>Stabilize</a:t>
            </a:r>
            <a:endParaRPr lang="en-US" sz="1900" dirty="0"/>
          </a:p>
        </p:txBody>
      </p:sp>
      <p:sp>
        <p:nvSpPr>
          <p:cNvPr id="7" name="Shape 5"/>
          <p:cNvSpPr/>
          <p:nvPr/>
        </p:nvSpPr>
        <p:spPr>
          <a:xfrm>
            <a:off x="841248" y="3319272"/>
            <a:ext cx="2212848" cy="0"/>
          </a:xfrm>
          <a:prstGeom prst="line">
            <a:avLst/>
          </a:prstGeom>
          <a:noFill/>
          <a:ln w="21590">
            <a:solidFill>
              <a:srgbClr val="37D7E5"/>
            </a:solidFill>
            <a:prstDash val="solid"/>
          </a:ln>
        </p:spPr>
      </p:sp>
      <p:sp>
        <p:nvSpPr>
          <p:cNvPr id="8" name="Text 6"/>
          <p:cNvSpPr txBox="1"/>
          <p:nvPr/>
        </p:nvSpPr>
        <p:spPr>
          <a:xfrm>
            <a:off x="841248" y="3621024"/>
            <a:ext cx="2359152" cy="114300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Notice quality checks</a:t>
            </a:r>
            <a:endParaRPr lang="en-US" sz="1400" dirty="0"/>
          </a:p>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Profile onboarding</a:t>
            </a:r>
            <a:endParaRPr lang="en-US" sz="1400" dirty="0"/>
          </a:p>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Clear source labels</a:t>
            </a:r>
            <a:endParaRPr lang="en-US" sz="1400" dirty="0"/>
          </a:p>
        </p:txBody>
      </p:sp>
      <p:sp>
        <p:nvSpPr>
          <p:cNvPr id="9" name="Text 7"/>
          <p:cNvSpPr txBox="1"/>
          <p:nvPr/>
        </p:nvSpPr>
        <p:spPr>
          <a:xfrm>
            <a:off x="3154680" y="3182112"/>
            <a:ext cx="365760" cy="384048"/>
          </a:xfrm>
          <a:prstGeom prst="rect">
            <a:avLst/>
          </a:prstGeom>
          <a:noFill/>
          <a:ln/>
        </p:spPr>
        <p:txBody>
          <a:bodyPr wrap="square" lIns="0" tIns="0" rIns="0" bIns="0" rtlCol="0" anchor="ctr">
            <a:normAutofit/>
          </a:bodyPr>
          <a:lstStyle/>
          <a:p>
            <a:pPr algn="ctr" indent="0" marL="0">
              <a:lnSpc>
                <a:spcPct val="112000"/>
              </a:lnSpc>
              <a:buNone/>
            </a:pPr>
            <a:r>
              <a:rPr lang="en-US" sz="2000" dirty="0">
                <a:solidFill>
                  <a:srgbClr val="74839B"/>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3694176" y="2423160"/>
            <a:ext cx="2286000" cy="219456"/>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4B83FF"/>
                </a:solidFill>
                <a:latin typeface="Aptos" pitchFamily="34" charset="0"/>
                <a:ea typeface="Aptos" pitchFamily="34" charset="-122"/>
                <a:cs typeface="Aptos" pitchFamily="34" charset="-120"/>
              </a:rPr>
              <a:t>PILOT</a:t>
            </a:r>
            <a:endParaRPr lang="en-US" sz="1000" dirty="0"/>
          </a:p>
        </p:txBody>
      </p:sp>
      <p:sp>
        <p:nvSpPr>
          <p:cNvPr id="11" name="Text 9"/>
          <p:cNvSpPr txBox="1"/>
          <p:nvPr/>
        </p:nvSpPr>
        <p:spPr>
          <a:xfrm>
            <a:off x="3694176" y="2816352"/>
            <a:ext cx="2286000" cy="347472"/>
          </a:xfrm>
          <a:prstGeom prst="rect">
            <a:avLst/>
          </a:prstGeom>
          <a:noFill/>
          <a:ln/>
        </p:spPr>
        <p:txBody>
          <a:bodyPr wrap="square" lIns="0" tIns="0" rIns="0" bIns="0" rtlCol="0" anchor="ctr">
            <a:normAutofit/>
          </a:bodyPr>
          <a:lstStyle/>
          <a:p>
            <a:pPr algn="l" indent="0" marL="0">
              <a:lnSpc>
                <a:spcPct val="112000"/>
              </a:lnSpc>
              <a:buNone/>
            </a:pPr>
            <a:r>
              <a:rPr lang="en-US" sz="1900" b="1" dirty="0">
                <a:solidFill>
                  <a:srgbClr val="F2F6FC"/>
                </a:solidFill>
                <a:latin typeface="Aptos Display" pitchFamily="34" charset="0"/>
                <a:ea typeface="Aptos Display" pitchFamily="34" charset="-122"/>
                <a:cs typeface="Aptos Display" pitchFamily="34" charset="-120"/>
              </a:rPr>
              <a:t>Populate</a:t>
            </a:r>
            <a:endParaRPr lang="en-US" sz="1900" dirty="0"/>
          </a:p>
        </p:txBody>
      </p:sp>
      <p:sp>
        <p:nvSpPr>
          <p:cNvPr id="12" name="Shape 10"/>
          <p:cNvSpPr/>
          <p:nvPr/>
        </p:nvSpPr>
        <p:spPr>
          <a:xfrm>
            <a:off x="3694176" y="3319272"/>
            <a:ext cx="2212848" cy="0"/>
          </a:xfrm>
          <a:prstGeom prst="line">
            <a:avLst/>
          </a:prstGeom>
          <a:noFill/>
          <a:ln w="21590">
            <a:solidFill>
              <a:srgbClr val="4B83FF"/>
            </a:solidFill>
            <a:prstDash val="solid"/>
          </a:ln>
        </p:spPr>
      </p:sp>
      <p:sp>
        <p:nvSpPr>
          <p:cNvPr id="13" name="Text 11"/>
          <p:cNvSpPr txBox="1"/>
          <p:nvPr/>
        </p:nvSpPr>
        <p:spPr>
          <a:xfrm>
            <a:off x="3694176" y="3621024"/>
            <a:ext cx="2359152" cy="114300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Partner with student clubs</a:t>
            </a:r>
            <a:endParaRPr lang="en-US" sz="1400" dirty="0"/>
          </a:p>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Add real notices with sources</a:t>
            </a:r>
            <a:endParaRPr lang="en-US" sz="1400" dirty="0"/>
          </a:p>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Invite opt-in profiles</a:t>
            </a:r>
            <a:endParaRPr lang="en-US" sz="1400" dirty="0"/>
          </a:p>
        </p:txBody>
      </p:sp>
      <p:sp>
        <p:nvSpPr>
          <p:cNvPr id="14" name="Text 12"/>
          <p:cNvSpPr txBox="1"/>
          <p:nvPr/>
        </p:nvSpPr>
        <p:spPr>
          <a:xfrm>
            <a:off x="6007608" y="3182112"/>
            <a:ext cx="365760" cy="384048"/>
          </a:xfrm>
          <a:prstGeom prst="rect">
            <a:avLst/>
          </a:prstGeom>
          <a:noFill/>
          <a:ln/>
        </p:spPr>
        <p:txBody>
          <a:bodyPr wrap="square" lIns="0" tIns="0" rIns="0" bIns="0" rtlCol="0" anchor="ctr">
            <a:normAutofit/>
          </a:bodyPr>
          <a:lstStyle/>
          <a:p>
            <a:pPr algn="ctr" indent="0" marL="0">
              <a:lnSpc>
                <a:spcPct val="112000"/>
              </a:lnSpc>
              <a:buNone/>
            </a:pPr>
            <a:r>
              <a:rPr lang="en-US" sz="2000" dirty="0">
                <a:solidFill>
                  <a:srgbClr val="74839B"/>
                </a:solidFill>
                <a:latin typeface="Aptos" pitchFamily="34" charset="0"/>
                <a:ea typeface="Aptos" pitchFamily="34" charset="-122"/>
                <a:cs typeface="Aptos" pitchFamily="34" charset="-120"/>
              </a:rPr>
              <a:t>→</a:t>
            </a:r>
            <a:endParaRPr lang="en-US" sz="2000" dirty="0"/>
          </a:p>
        </p:txBody>
      </p:sp>
      <p:sp>
        <p:nvSpPr>
          <p:cNvPr id="15" name="Text 13"/>
          <p:cNvSpPr txBox="1"/>
          <p:nvPr/>
        </p:nvSpPr>
        <p:spPr>
          <a:xfrm>
            <a:off x="6547104" y="2423160"/>
            <a:ext cx="2286000" cy="219456"/>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A985FF"/>
                </a:solidFill>
                <a:latin typeface="Aptos" pitchFamily="34" charset="0"/>
                <a:ea typeface="Aptos" pitchFamily="34" charset="-122"/>
                <a:cs typeface="Aptos" pitchFamily="34" charset="-120"/>
              </a:rPr>
              <a:t>NEXT</a:t>
            </a:r>
            <a:endParaRPr lang="en-US" sz="1000" dirty="0"/>
          </a:p>
        </p:txBody>
      </p:sp>
      <p:sp>
        <p:nvSpPr>
          <p:cNvPr id="16" name="Text 14"/>
          <p:cNvSpPr txBox="1"/>
          <p:nvPr/>
        </p:nvSpPr>
        <p:spPr>
          <a:xfrm>
            <a:off x="6547104" y="2816352"/>
            <a:ext cx="2286000" cy="347472"/>
          </a:xfrm>
          <a:prstGeom prst="rect">
            <a:avLst/>
          </a:prstGeom>
          <a:noFill/>
          <a:ln/>
        </p:spPr>
        <p:txBody>
          <a:bodyPr wrap="square" lIns="0" tIns="0" rIns="0" bIns="0" rtlCol="0" anchor="ctr">
            <a:normAutofit/>
          </a:bodyPr>
          <a:lstStyle/>
          <a:p>
            <a:pPr algn="l" indent="0" marL="0">
              <a:lnSpc>
                <a:spcPct val="112000"/>
              </a:lnSpc>
              <a:buNone/>
            </a:pPr>
            <a:r>
              <a:rPr lang="en-US" sz="1900" b="1" dirty="0">
                <a:solidFill>
                  <a:srgbClr val="F2F6FC"/>
                </a:solidFill>
                <a:latin typeface="Aptos Display" pitchFamily="34" charset="0"/>
                <a:ea typeface="Aptos Display" pitchFamily="34" charset="-122"/>
                <a:cs typeface="Aptos Display" pitchFamily="34" charset="-120"/>
              </a:rPr>
              <a:t>Automate carefully</a:t>
            </a:r>
            <a:endParaRPr lang="en-US" sz="1900" dirty="0"/>
          </a:p>
        </p:txBody>
      </p:sp>
      <p:sp>
        <p:nvSpPr>
          <p:cNvPr id="17" name="Shape 15"/>
          <p:cNvSpPr/>
          <p:nvPr/>
        </p:nvSpPr>
        <p:spPr>
          <a:xfrm>
            <a:off x="6547104" y="3319272"/>
            <a:ext cx="2212848" cy="0"/>
          </a:xfrm>
          <a:prstGeom prst="line">
            <a:avLst/>
          </a:prstGeom>
          <a:noFill/>
          <a:ln w="21590">
            <a:solidFill>
              <a:srgbClr val="A985FF"/>
            </a:solidFill>
            <a:prstDash val="solid"/>
          </a:ln>
        </p:spPr>
      </p:sp>
      <p:sp>
        <p:nvSpPr>
          <p:cNvPr id="18" name="Text 16"/>
          <p:cNvSpPr txBox="1"/>
          <p:nvPr/>
        </p:nvSpPr>
        <p:spPr>
          <a:xfrm>
            <a:off x="6547104" y="3621024"/>
            <a:ext cx="2359152" cy="114300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Scheduled server reminders</a:t>
            </a:r>
            <a:endParaRPr lang="en-US" sz="1400" dirty="0"/>
          </a:p>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More campus data sources</a:t>
            </a:r>
            <a:endParaRPr lang="en-US" sz="1400" dirty="0"/>
          </a:p>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Reviewable source ingestion</a:t>
            </a:r>
            <a:endParaRPr lang="en-US" sz="1400" dirty="0"/>
          </a:p>
        </p:txBody>
      </p:sp>
      <p:sp>
        <p:nvSpPr>
          <p:cNvPr id="19" name="Text 17"/>
          <p:cNvSpPr txBox="1"/>
          <p:nvPr/>
        </p:nvSpPr>
        <p:spPr>
          <a:xfrm>
            <a:off x="8860536" y="3182112"/>
            <a:ext cx="365760" cy="384048"/>
          </a:xfrm>
          <a:prstGeom prst="rect">
            <a:avLst/>
          </a:prstGeom>
          <a:noFill/>
          <a:ln/>
        </p:spPr>
        <p:txBody>
          <a:bodyPr wrap="square" lIns="0" tIns="0" rIns="0" bIns="0" rtlCol="0" anchor="ctr">
            <a:normAutofit/>
          </a:bodyPr>
          <a:lstStyle/>
          <a:p>
            <a:pPr algn="ctr" indent="0" marL="0">
              <a:lnSpc>
                <a:spcPct val="112000"/>
              </a:lnSpc>
              <a:buNone/>
            </a:pPr>
            <a:r>
              <a:rPr lang="en-US" sz="2000" dirty="0">
                <a:solidFill>
                  <a:srgbClr val="74839B"/>
                </a:solidFill>
                <a:latin typeface="Aptos" pitchFamily="34" charset="0"/>
                <a:ea typeface="Aptos" pitchFamily="34" charset="-122"/>
                <a:cs typeface="Aptos" pitchFamily="34" charset="-120"/>
              </a:rPr>
              <a:t>→</a:t>
            </a:r>
            <a:endParaRPr lang="en-US" sz="2000" dirty="0"/>
          </a:p>
        </p:txBody>
      </p:sp>
      <p:sp>
        <p:nvSpPr>
          <p:cNvPr id="20" name="Text 18"/>
          <p:cNvSpPr txBox="1"/>
          <p:nvPr/>
        </p:nvSpPr>
        <p:spPr>
          <a:xfrm>
            <a:off x="9400032" y="2423160"/>
            <a:ext cx="2286000" cy="219456"/>
          </a:xfrm>
          <a:prstGeom prst="rect">
            <a:avLst/>
          </a:prstGeom>
          <a:noFill/>
          <a:ln/>
        </p:spPr>
        <p:txBody>
          <a:bodyPr wrap="square" lIns="0" tIns="0" rIns="0" bIns="0" rtlCol="0" anchor="ctr">
            <a:normAutofit/>
          </a:bodyPr>
          <a:lstStyle/>
          <a:p>
            <a:pPr algn="l" indent="0" marL="0">
              <a:lnSpc>
                <a:spcPct val="112000"/>
              </a:lnSpc>
              <a:buNone/>
            </a:pPr>
            <a:r>
              <a:rPr lang="en-US" sz="1000" b="1" spc="120" kern="0" dirty="0">
                <a:solidFill>
                  <a:srgbClr val="F7C15D"/>
                </a:solidFill>
                <a:latin typeface="Aptos" pitchFamily="34" charset="0"/>
                <a:ea typeface="Aptos" pitchFamily="34" charset="-122"/>
                <a:cs typeface="Aptos" pitchFamily="34" charset="-120"/>
              </a:rPr>
              <a:t>SCALE</a:t>
            </a:r>
            <a:endParaRPr lang="en-US" sz="1000" dirty="0"/>
          </a:p>
        </p:txBody>
      </p:sp>
      <p:sp>
        <p:nvSpPr>
          <p:cNvPr id="21" name="Text 19"/>
          <p:cNvSpPr txBox="1"/>
          <p:nvPr/>
        </p:nvSpPr>
        <p:spPr>
          <a:xfrm>
            <a:off x="9400032" y="2816352"/>
            <a:ext cx="2286000" cy="347472"/>
          </a:xfrm>
          <a:prstGeom prst="rect">
            <a:avLst/>
          </a:prstGeom>
          <a:noFill/>
          <a:ln/>
        </p:spPr>
        <p:txBody>
          <a:bodyPr wrap="square" lIns="0" tIns="0" rIns="0" bIns="0" rtlCol="0" anchor="ctr">
            <a:normAutofit/>
          </a:bodyPr>
          <a:lstStyle/>
          <a:p>
            <a:pPr algn="l" indent="0" marL="0">
              <a:lnSpc>
                <a:spcPct val="112000"/>
              </a:lnSpc>
              <a:buNone/>
            </a:pPr>
            <a:r>
              <a:rPr lang="en-US" sz="1900" b="1" dirty="0">
                <a:solidFill>
                  <a:srgbClr val="F2F6FC"/>
                </a:solidFill>
                <a:latin typeface="Aptos Display" pitchFamily="34" charset="0"/>
                <a:ea typeface="Aptos Display" pitchFamily="34" charset="-122"/>
                <a:cs typeface="Aptos Display" pitchFamily="34" charset="-120"/>
              </a:rPr>
              <a:t>Prove impact</a:t>
            </a:r>
            <a:endParaRPr lang="en-US" sz="1900" dirty="0"/>
          </a:p>
        </p:txBody>
      </p:sp>
      <p:sp>
        <p:nvSpPr>
          <p:cNvPr id="22" name="Shape 20"/>
          <p:cNvSpPr/>
          <p:nvPr/>
        </p:nvSpPr>
        <p:spPr>
          <a:xfrm>
            <a:off x="9400032" y="3319272"/>
            <a:ext cx="2212848" cy="0"/>
          </a:xfrm>
          <a:prstGeom prst="line">
            <a:avLst/>
          </a:prstGeom>
          <a:noFill/>
          <a:ln w="21590">
            <a:solidFill>
              <a:srgbClr val="F7C15D"/>
            </a:solidFill>
            <a:prstDash val="solid"/>
          </a:ln>
        </p:spPr>
      </p:sp>
      <p:sp>
        <p:nvSpPr>
          <p:cNvPr id="23" name="Text 21"/>
          <p:cNvSpPr txBox="1"/>
          <p:nvPr/>
        </p:nvSpPr>
        <p:spPr>
          <a:xfrm>
            <a:off x="9400032" y="3621024"/>
            <a:ext cx="2359152" cy="114300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Measure field accuracy</a:t>
            </a:r>
            <a:endParaRPr lang="en-US" sz="1400" dirty="0"/>
          </a:p>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Track deadline outcomes</a:t>
            </a:r>
            <a:endParaRPr lang="en-US" sz="1400" dirty="0"/>
          </a:p>
          <a:p>
            <a:pPr algn="l" indent="0" marL="0">
              <a:lnSpc>
                <a:spcPct val="112000"/>
              </a:lnSpc>
              <a:buNone/>
            </a:pPr>
            <a:r>
              <a:rPr lang="en-US" sz="1400" dirty="0">
                <a:solidFill>
                  <a:srgbClr val="A8B5C9"/>
                </a:solidFill>
                <a:latin typeface="Aptos" pitchFamily="34" charset="0"/>
                <a:ea typeface="Aptos" pitchFamily="34" charset="-122"/>
                <a:cs typeface="Aptos" pitchFamily="34" charset="-120"/>
              </a:rPr>
              <a:t>Expand only with consent</a:t>
            </a:r>
            <a:endParaRPr lang="en-US" sz="1400" dirty="0"/>
          </a:p>
        </p:txBody>
      </p:sp>
      <p:sp>
        <p:nvSpPr>
          <p:cNvPr id="24" name="Text 22"/>
          <p:cNvSpPr txBox="1"/>
          <p:nvPr/>
        </p:nvSpPr>
        <p:spPr>
          <a:xfrm>
            <a:off x="877824" y="5276088"/>
            <a:ext cx="7772400" cy="475488"/>
          </a:xfrm>
          <a:prstGeom prst="rect">
            <a:avLst/>
          </a:prstGeom>
          <a:noFill/>
          <a:ln/>
        </p:spPr>
        <p:txBody>
          <a:bodyPr wrap="square" lIns="0" tIns="0" rIns="0" bIns="0" rtlCol="0" anchor="ctr">
            <a:normAutofit/>
          </a:bodyPr>
          <a:lstStyle/>
          <a:p>
            <a:pPr algn="l" indent="0" marL="0">
              <a:lnSpc>
                <a:spcPct val="112000"/>
              </a:lnSpc>
              <a:buNone/>
            </a:pPr>
            <a:r>
              <a:rPr lang="en-US" sz="2500" b="1" dirty="0">
                <a:solidFill>
                  <a:srgbClr val="F2F6FC"/>
                </a:solidFill>
                <a:latin typeface="Aptos Display" pitchFamily="34" charset="0"/>
                <a:ea typeface="Aptos Display" pitchFamily="34" charset="-122"/>
                <a:cs typeface="Aptos Display" pitchFamily="34" charset="-120"/>
              </a:rPr>
              <a:t>Scale after evidence, not before it.</a:t>
            </a:r>
            <a:endParaRPr lang="en-US" sz="25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22960" y="658368"/>
            <a:ext cx="3657600" cy="274320"/>
          </a:xfrm>
          <a:prstGeom prst="rect">
            <a:avLst/>
          </a:prstGeom>
          <a:noFill/>
          <a:ln/>
        </p:spPr>
        <p:txBody>
          <a:bodyPr wrap="square" lIns="0" tIns="0" rIns="0" bIns="0" rtlCol="0" anchor="ctr">
            <a:normAutofit/>
          </a:bodyPr>
          <a:lstStyle/>
          <a:p>
            <a:pPr algn="l" indent="0" marL="0">
              <a:lnSpc>
                <a:spcPct val="112000"/>
              </a:lnSpc>
              <a:buNone/>
            </a:pPr>
            <a:r>
              <a:rPr lang="en-US" sz="1000" b="1" spc="180" kern="0" dirty="0">
                <a:solidFill>
                  <a:srgbClr val="37D7E5"/>
                </a:solidFill>
                <a:latin typeface="Aptos" pitchFamily="34" charset="0"/>
                <a:ea typeface="Aptos" pitchFamily="34" charset="-122"/>
                <a:cs typeface="Aptos" pitchFamily="34" charset="-120"/>
              </a:rPr>
              <a:t>CAMPUSSIGNAL AI</a:t>
            </a:r>
            <a:endParaRPr lang="en-US" sz="1000" dirty="0"/>
          </a:p>
        </p:txBody>
      </p:sp>
      <p:sp>
        <p:nvSpPr>
          <p:cNvPr id="3" name="Text 1"/>
          <p:cNvSpPr txBox="1"/>
          <p:nvPr/>
        </p:nvSpPr>
        <p:spPr>
          <a:xfrm>
            <a:off x="822960" y="1618488"/>
            <a:ext cx="9875520" cy="731520"/>
          </a:xfrm>
          <a:prstGeom prst="rect">
            <a:avLst/>
          </a:prstGeom>
          <a:noFill/>
          <a:ln/>
        </p:spPr>
        <p:txBody>
          <a:bodyPr wrap="square" lIns="0" tIns="0" rIns="0" bIns="0" rtlCol="0" anchor="ctr">
            <a:normAutofit/>
          </a:bodyPr>
          <a:lstStyle/>
          <a:p>
            <a:pPr algn="l" indent="0" marL="0">
              <a:lnSpc>
                <a:spcPct val="112000"/>
              </a:lnSpc>
              <a:buNone/>
            </a:pPr>
            <a:r>
              <a:rPr lang="en-US" sz="3600" b="1" dirty="0">
                <a:solidFill>
                  <a:srgbClr val="F2F6FC"/>
                </a:solidFill>
                <a:latin typeface="Aptos Display" pitchFamily="34" charset="0"/>
                <a:ea typeface="Aptos Display" pitchFamily="34" charset="-122"/>
                <a:cs typeface="Aptos Display" pitchFamily="34" charset="-120"/>
              </a:rPr>
              <a:t>The next step is a focused campus pilot.</a:t>
            </a:r>
            <a:endParaRPr lang="en-US" sz="3600" dirty="0"/>
          </a:p>
        </p:txBody>
      </p:sp>
      <p:sp>
        <p:nvSpPr>
          <p:cNvPr id="4" name="Text 2"/>
          <p:cNvSpPr txBox="1"/>
          <p:nvPr/>
        </p:nvSpPr>
        <p:spPr>
          <a:xfrm>
            <a:off x="841248" y="2651760"/>
            <a:ext cx="9875520" cy="768096"/>
          </a:xfrm>
          <a:prstGeom prst="rect">
            <a:avLst/>
          </a:prstGeom>
          <a:noFill/>
          <a:ln/>
        </p:spPr>
        <p:txBody>
          <a:bodyPr wrap="square" lIns="0" tIns="0" rIns="0" bIns="0" rtlCol="0" anchor="t">
            <a:normAutofit/>
          </a:bodyPr>
          <a:lstStyle/>
          <a:p>
            <a:pPr algn="l" indent="0" marL="0">
              <a:lnSpc>
                <a:spcPct val="112000"/>
              </a:lnSpc>
              <a:buNone/>
            </a:pPr>
            <a:r>
              <a:rPr lang="en-US" sz="2100" dirty="0">
                <a:solidFill>
                  <a:srgbClr val="A8B5C9"/>
                </a:solidFill>
                <a:latin typeface="Aptos" pitchFamily="34" charset="0"/>
                <a:ea typeface="Aptos" pitchFamily="34" charset="-122"/>
                <a:cs typeface="Aptos" pitchFamily="34" charset="-120"/>
              </a:rPr>
              <a:t>Bring in real notices. Invite students to opt in. Measure whether the workflow helps them act on opportunities.</a:t>
            </a:r>
            <a:endParaRPr lang="en-US" sz="2100" dirty="0"/>
          </a:p>
        </p:txBody>
      </p:sp>
      <p:sp>
        <p:nvSpPr>
          <p:cNvPr id="5" name="Shape 3"/>
          <p:cNvSpPr/>
          <p:nvPr/>
        </p:nvSpPr>
        <p:spPr>
          <a:xfrm>
            <a:off x="841248" y="3886200"/>
            <a:ext cx="10296144" cy="0"/>
          </a:xfrm>
          <a:prstGeom prst="line">
            <a:avLst/>
          </a:prstGeom>
          <a:noFill/>
          <a:ln w="12700">
            <a:solidFill>
              <a:srgbClr val="243149"/>
            </a:solidFill>
            <a:prstDash val="solid"/>
          </a:ln>
        </p:spPr>
      </p:sp>
      <p:sp>
        <p:nvSpPr>
          <p:cNvPr id="6" name="Text 4"/>
          <p:cNvSpPr txBox="1"/>
          <p:nvPr/>
        </p:nvSpPr>
        <p:spPr>
          <a:xfrm>
            <a:off x="850392" y="4279392"/>
            <a:ext cx="3108960" cy="347472"/>
          </a:xfrm>
          <a:prstGeom prst="rect">
            <a:avLst/>
          </a:prstGeom>
          <a:noFill/>
          <a:ln/>
        </p:spPr>
        <p:txBody>
          <a:bodyPr wrap="square" lIns="0" tIns="0" rIns="0" bIns="0" rtlCol="0" anchor="ctr">
            <a:normAutofit/>
          </a:bodyPr>
          <a:lstStyle/>
          <a:p>
            <a:pPr algn="l" indent="0" marL="0">
              <a:lnSpc>
                <a:spcPct val="112000"/>
              </a:lnSpc>
              <a:buNone/>
            </a:pPr>
            <a:r>
              <a:rPr lang="en-US" sz="1900" b="1" dirty="0">
                <a:solidFill>
                  <a:srgbClr val="37D7E5"/>
                </a:solidFill>
                <a:latin typeface="Aptos Display" pitchFamily="34" charset="0"/>
                <a:ea typeface="Aptos Display" pitchFamily="34" charset="-122"/>
                <a:cs typeface="Aptos Display" pitchFamily="34" charset="-120"/>
              </a:rPr>
              <a:t>Understand the notice</a:t>
            </a:r>
            <a:endParaRPr lang="en-US" sz="1900" dirty="0"/>
          </a:p>
        </p:txBody>
      </p:sp>
      <p:sp>
        <p:nvSpPr>
          <p:cNvPr id="7" name="Text 5"/>
          <p:cNvSpPr txBox="1"/>
          <p:nvPr/>
        </p:nvSpPr>
        <p:spPr>
          <a:xfrm>
            <a:off x="4407408" y="4279392"/>
            <a:ext cx="2926080" cy="347472"/>
          </a:xfrm>
          <a:prstGeom prst="rect">
            <a:avLst/>
          </a:prstGeom>
          <a:noFill/>
          <a:ln/>
        </p:spPr>
        <p:txBody>
          <a:bodyPr wrap="square" lIns="0" tIns="0" rIns="0" bIns="0" rtlCol="0" anchor="ctr">
            <a:normAutofit/>
          </a:bodyPr>
          <a:lstStyle/>
          <a:p>
            <a:pPr algn="l" indent="0" marL="0">
              <a:lnSpc>
                <a:spcPct val="112000"/>
              </a:lnSpc>
              <a:buNone/>
            </a:pPr>
            <a:r>
              <a:rPr lang="en-US" sz="1900" b="1" dirty="0">
                <a:solidFill>
                  <a:srgbClr val="4B83FF"/>
                </a:solidFill>
                <a:latin typeface="Aptos Display" pitchFamily="34" charset="0"/>
                <a:ea typeface="Aptos Display" pitchFamily="34" charset="-122"/>
                <a:cs typeface="Aptos Display" pitchFamily="34" charset="-120"/>
              </a:rPr>
              <a:t>Track the deadline</a:t>
            </a:r>
            <a:endParaRPr lang="en-US" sz="1900" dirty="0"/>
          </a:p>
        </p:txBody>
      </p:sp>
      <p:sp>
        <p:nvSpPr>
          <p:cNvPr id="8" name="Text 6"/>
          <p:cNvSpPr txBox="1"/>
          <p:nvPr/>
        </p:nvSpPr>
        <p:spPr>
          <a:xfrm>
            <a:off x="8010144" y="4279392"/>
            <a:ext cx="3017520" cy="347472"/>
          </a:xfrm>
          <a:prstGeom prst="rect">
            <a:avLst/>
          </a:prstGeom>
          <a:noFill/>
          <a:ln/>
        </p:spPr>
        <p:txBody>
          <a:bodyPr wrap="square" lIns="0" tIns="0" rIns="0" bIns="0" rtlCol="0" anchor="ctr">
            <a:normAutofit/>
          </a:bodyPr>
          <a:lstStyle/>
          <a:p>
            <a:pPr algn="l" indent="0" marL="0">
              <a:lnSpc>
                <a:spcPct val="112000"/>
              </a:lnSpc>
              <a:buNone/>
            </a:pPr>
            <a:r>
              <a:rPr lang="en-US" sz="1900" b="1" dirty="0">
                <a:solidFill>
                  <a:srgbClr val="A985FF"/>
                </a:solidFill>
                <a:latin typeface="Aptos Display" pitchFamily="34" charset="0"/>
                <a:ea typeface="Aptos Display" pitchFamily="34" charset="-122"/>
                <a:cs typeface="Aptos Display" pitchFamily="34" charset="-120"/>
              </a:rPr>
              <a:t>Find collaborators</a:t>
            </a:r>
            <a:endParaRPr lang="en-US" sz="1900" dirty="0"/>
          </a:p>
        </p:txBody>
      </p:sp>
      <p:sp>
        <p:nvSpPr>
          <p:cNvPr id="9" name="Text 7"/>
          <p:cNvSpPr txBox="1"/>
          <p:nvPr/>
        </p:nvSpPr>
        <p:spPr>
          <a:xfrm>
            <a:off x="859536" y="5596128"/>
            <a:ext cx="5486400" cy="347472"/>
          </a:xfrm>
          <a:prstGeom prst="rect">
            <a:avLst/>
          </a:prstGeom>
          <a:noFill/>
          <a:ln/>
        </p:spPr>
        <p:txBody>
          <a:bodyPr wrap="square" lIns="0" tIns="0" rIns="0" bIns="0" rtlCol="0" anchor="ctr">
            <a:normAutofit/>
          </a:bodyPr>
          <a:lstStyle/>
          <a:p>
            <a:pPr algn="l" indent="0" marL="0">
              <a:lnSpc>
                <a:spcPct val="112000"/>
              </a:lnSpc>
              <a:buNone/>
            </a:pPr>
            <a:r>
              <a:rPr lang="en-US" sz="1700" b="1" dirty="0">
                <a:solidFill>
                  <a:srgbClr val="F2F6FC"/>
                </a:solidFill>
                <a:latin typeface="Aptos" pitchFamily="34" charset="0"/>
                <a:ea typeface="Aptos" pitchFamily="34" charset="-122"/>
                <a:cs typeface="Aptos" pitchFamily="34" charset="-120"/>
              </a:rPr>
              <a:t>Thank you  •  Questions</a:t>
            </a:r>
            <a:endParaRPr lang="en-US" sz="17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JUDGE Q&amp;A</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Reliability, AI and opportunity sources</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Short answers for the questions most likely to challenge the prototype.</a:t>
            </a:r>
            <a:endParaRPr lang="en-US" sz="1500" dirty="0"/>
          </a:p>
        </p:txBody>
      </p:sp>
      <p:sp>
        <p:nvSpPr>
          <p:cNvPr id="5" name="Text 3"/>
          <p:cNvSpPr txBox="1"/>
          <p:nvPr/>
        </p:nvSpPr>
        <p:spPr>
          <a:xfrm>
            <a:off x="859536" y="2057400"/>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F7C15D"/>
                </a:solidFill>
                <a:latin typeface="Aptos" pitchFamily="34" charset="0"/>
                <a:ea typeface="Aptos" pitchFamily="34" charset="-122"/>
                <a:cs typeface="Aptos" pitchFamily="34" charset="-120"/>
              </a:rPr>
              <a:t>Q</a:t>
            </a:r>
            <a:endParaRPr lang="en-US" sz="1200" dirty="0"/>
          </a:p>
        </p:txBody>
      </p:sp>
      <p:sp>
        <p:nvSpPr>
          <p:cNvPr id="6" name="Text 4"/>
          <p:cNvSpPr txBox="1"/>
          <p:nvPr/>
        </p:nvSpPr>
        <p:spPr>
          <a:xfrm>
            <a:off x="1207008" y="2039112"/>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How do you prevent hallucinated deadlines?</a:t>
            </a:r>
            <a:endParaRPr lang="en-US" sz="1500" dirty="0"/>
          </a:p>
        </p:txBody>
      </p:sp>
      <p:sp>
        <p:nvSpPr>
          <p:cNvPr id="7" name="Text 5"/>
          <p:cNvSpPr txBox="1"/>
          <p:nvPr/>
        </p:nvSpPr>
        <p:spPr>
          <a:xfrm>
            <a:off x="5742432" y="2029968"/>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The model is instructed not to invent them. Unknown values remain explicit; users review the original before saving.</a:t>
            </a:r>
            <a:endParaRPr lang="en-US" sz="1300" dirty="0"/>
          </a:p>
        </p:txBody>
      </p:sp>
      <p:sp>
        <p:nvSpPr>
          <p:cNvPr id="8" name="Shape 6"/>
          <p:cNvSpPr/>
          <p:nvPr/>
        </p:nvSpPr>
        <p:spPr>
          <a:xfrm>
            <a:off x="868680" y="2715768"/>
            <a:ext cx="10213848" cy="0"/>
          </a:xfrm>
          <a:prstGeom prst="line">
            <a:avLst/>
          </a:prstGeom>
          <a:noFill/>
          <a:ln w="8890">
            <a:solidFill>
              <a:srgbClr val="243149"/>
            </a:solidFill>
            <a:prstDash val="solid"/>
          </a:ln>
        </p:spPr>
      </p:sp>
      <p:sp>
        <p:nvSpPr>
          <p:cNvPr id="9" name="Text 7"/>
          <p:cNvSpPr txBox="1"/>
          <p:nvPr/>
        </p:nvSpPr>
        <p:spPr>
          <a:xfrm>
            <a:off x="859536" y="2935224"/>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F7C15D"/>
                </a:solidFill>
                <a:latin typeface="Aptos" pitchFamily="34" charset="0"/>
                <a:ea typeface="Aptos" pitchFamily="34" charset="-122"/>
                <a:cs typeface="Aptos" pitchFamily="34" charset="-120"/>
              </a:rPr>
              <a:t>Q</a:t>
            </a:r>
            <a:endParaRPr lang="en-US" sz="1200" dirty="0"/>
          </a:p>
        </p:txBody>
      </p:sp>
      <p:sp>
        <p:nvSpPr>
          <p:cNvPr id="10" name="Text 8"/>
          <p:cNvSpPr txBox="1"/>
          <p:nvPr/>
        </p:nvSpPr>
        <p:spPr>
          <a:xfrm>
            <a:off x="1207008" y="2916936"/>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Does “Officially sourced” mean verified by AI?</a:t>
            </a:r>
            <a:endParaRPr lang="en-US" sz="1500" dirty="0"/>
          </a:p>
        </p:txBody>
      </p:sp>
      <p:sp>
        <p:nvSpPr>
          <p:cNvPr id="11" name="Text 9"/>
          <p:cNvSpPr txBox="1"/>
          <p:nvPr/>
        </p:nvSpPr>
        <p:spPr>
          <a:xfrm>
            <a:off x="5742432" y="2907792"/>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No. It identifies provenance; it is not a factual guarantee. The source URL and human check matter.</a:t>
            </a:r>
            <a:endParaRPr lang="en-US" sz="1300" dirty="0"/>
          </a:p>
        </p:txBody>
      </p:sp>
      <p:sp>
        <p:nvSpPr>
          <p:cNvPr id="12" name="Shape 10"/>
          <p:cNvSpPr/>
          <p:nvPr/>
        </p:nvSpPr>
        <p:spPr>
          <a:xfrm>
            <a:off x="868680" y="3593592"/>
            <a:ext cx="10213848" cy="0"/>
          </a:xfrm>
          <a:prstGeom prst="line">
            <a:avLst/>
          </a:prstGeom>
          <a:noFill/>
          <a:ln w="8890">
            <a:solidFill>
              <a:srgbClr val="243149"/>
            </a:solidFill>
            <a:prstDash val="solid"/>
          </a:ln>
        </p:spPr>
      </p:sp>
      <p:sp>
        <p:nvSpPr>
          <p:cNvPr id="13" name="Text 11"/>
          <p:cNvSpPr txBox="1"/>
          <p:nvPr/>
        </p:nvSpPr>
        <p:spPr>
          <a:xfrm>
            <a:off x="859536" y="3813048"/>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F7C15D"/>
                </a:solidFill>
                <a:latin typeface="Aptos" pitchFamily="34" charset="0"/>
                <a:ea typeface="Aptos" pitchFamily="34" charset="-122"/>
                <a:cs typeface="Aptos" pitchFamily="34" charset="-120"/>
              </a:rPr>
              <a:t>Q</a:t>
            </a:r>
            <a:endParaRPr lang="en-US" sz="1200" dirty="0"/>
          </a:p>
        </p:txBody>
      </p:sp>
      <p:sp>
        <p:nvSpPr>
          <p:cNvPr id="14" name="Text 12"/>
          <p:cNvSpPr txBox="1"/>
          <p:nvPr/>
        </p:nvSpPr>
        <p:spPr>
          <a:xfrm>
            <a:off x="1207008" y="3794760"/>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What if Gemini is unavailable?</a:t>
            </a:r>
            <a:endParaRPr lang="en-US" sz="1500" dirty="0"/>
          </a:p>
        </p:txBody>
      </p:sp>
      <p:sp>
        <p:nvSpPr>
          <p:cNvPr id="15" name="Text 13"/>
          <p:cNvSpPr txBox="1"/>
          <p:nvPr/>
        </p:nvSpPr>
        <p:spPr>
          <a:xfrm>
            <a:off x="5742432" y="3785616"/>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Extraction needs a working key/quota. Saved opportunities and non-AI app flows remain available; extraction reports an error.</a:t>
            </a:r>
            <a:endParaRPr lang="en-US" sz="1300" dirty="0"/>
          </a:p>
        </p:txBody>
      </p:sp>
      <p:sp>
        <p:nvSpPr>
          <p:cNvPr id="16" name="Shape 14"/>
          <p:cNvSpPr/>
          <p:nvPr/>
        </p:nvSpPr>
        <p:spPr>
          <a:xfrm>
            <a:off x="868680" y="4471416"/>
            <a:ext cx="10213848" cy="0"/>
          </a:xfrm>
          <a:prstGeom prst="line">
            <a:avLst/>
          </a:prstGeom>
          <a:noFill/>
          <a:ln w="8890">
            <a:solidFill>
              <a:srgbClr val="243149"/>
            </a:solidFill>
            <a:prstDash val="solid"/>
          </a:ln>
        </p:spPr>
      </p:sp>
      <p:sp>
        <p:nvSpPr>
          <p:cNvPr id="17" name="Text 15"/>
          <p:cNvSpPr txBox="1"/>
          <p:nvPr/>
        </p:nvSpPr>
        <p:spPr>
          <a:xfrm>
            <a:off x="859536" y="4690872"/>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F7C15D"/>
                </a:solidFill>
                <a:latin typeface="Aptos" pitchFamily="34" charset="0"/>
                <a:ea typeface="Aptos" pitchFamily="34" charset="-122"/>
                <a:cs typeface="Aptos" pitchFamily="34" charset="-120"/>
              </a:rPr>
              <a:t>Q</a:t>
            </a:r>
            <a:endParaRPr lang="en-US" sz="1200" dirty="0"/>
          </a:p>
        </p:txBody>
      </p:sp>
      <p:sp>
        <p:nvSpPr>
          <p:cNvPr id="18" name="Text 16"/>
          <p:cNvSpPr txBox="1"/>
          <p:nvPr/>
        </p:nvSpPr>
        <p:spPr>
          <a:xfrm>
            <a:off x="1207008" y="4672584"/>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Where do opportunities come from?</a:t>
            </a:r>
            <a:endParaRPr lang="en-US" sz="1500" dirty="0"/>
          </a:p>
        </p:txBody>
      </p:sp>
      <p:sp>
        <p:nvSpPr>
          <p:cNvPr id="19" name="Text 17"/>
          <p:cNvSpPr txBox="1"/>
          <p:nvPr/>
        </p:nvSpPr>
        <p:spPr>
          <a:xfrm>
            <a:off x="5742432" y="4663440"/>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User-submitted notices and records added with official source links. Continuous all-campus crawling is not implemented.</a:t>
            </a:r>
            <a:endParaRPr lang="en-US" sz="13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JUDGE Q&amp;A</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Privacy, matching and the cold start</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The system favors transparent criteria and user consent over a false sense of coverage.</a:t>
            </a:r>
            <a:endParaRPr lang="en-US" sz="1500" dirty="0"/>
          </a:p>
        </p:txBody>
      </p:sp>
      <p:sp>
        <p:nvSpPr>
          <p:cNvPr id="5" name="Text 3"/>
          <p:cNvSpPr txBox="1"/>
          <p:nvPr/>
        </p:nvSpPr>
        <p:spPr>
          <a:xfrm>
            <a:off x="859536" y="2057400"/>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A985FF"/>
                </a:solidFill>
                <a:latin typeface="Aptos" pitchFamily="34" charset="0"/>
                <a:ea typeface="Aptos" pitchFamily="34" charset="-122"/>
                <a:cs typeface="Aptos" pitchFamily="34" charset="-120"/>
              </a:rPr>
              <a:t>Q</a:t>
            </a:r>
            <a:endParaRPr lang="en-US" sz="1200" dirty="0"/>
          </a:p>
        </p:txBody>
      </p:sp>
      <p:sp>
        <p:nvSpPr>
          <p:cNvPr id="6" name="Text 4"/>
          <p:cNvSpPr txBox="1"/>
          <p:nvPr/>
        </p:nvSpPr>
        <p:spPr>
          <a:xfrm>
            <a:off x="1207008" y="2039112"/>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Who can see a student profile?</a:t>
            </a:r>
            <a:endParaRPr lang="en-US" sz="1500" dirty="0"/>
          </a:p>
        </p:txBody>
      </p:sp>
      <p:sp>
        <p:nvSpPr>
          <p:cNvPr id="7" name="Text 5"/>
          <p:cNvSpPr txBox="1"/>
          <p:nvPr/>
        </p:nvSpPr>
        <p:spPr>
          <a:xfrm>
            <a:off x="5742432" y="2029968"/>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Only signed-in users; a profile appears in team discovery only when its owner opts in.</a:t>
            </a:r>
            <a:endParaRPr lang="en-US" sz="1300" dirty="0"/>
          </a:p>
        </p:txBody>
      </p:sp>
      <p:sp>
        <p:nvSpPr>
          <p:cNvPr id="8" name="Shape 6"/>
          <p:cNvSpPr/>
          <p:nvPr/>
        </p:nvSpPr>
        <p:spPr>
          <a:xfrm>
            <a:off x="868680" y="2715768"/>
            <a:ext cx="10213848" cy="0"/>
          </a:xfrm>
          <a:prstGeom prst="line">
            <a:avLst/>
          </a:prstGeom>
          <a:noFill/>
          <a:ln w="8890">
            <a:solidFill>
              <a:srgbClr val="243149"/>
            </a:solidFill>
            <a:prstDash val="solid"/>
          </a:ln>
        </p:spPr>
      </p:sp>
      <p:sp>
        <p:nvSpPr>
          <p:cNvPr id="9" name="Text 7"/>
          <p:cNvSpPr txBox="1"/>
          <p:nvPr/>
        </p:nvSpPr>
        <p:spPr>
          <a:xfrm>
            <a:off x="859536" y="2935224"/>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A985FF"/>
                </a:solidFill>
                <a:latin typeface="Aptos" pitchFamily="34" charset="0"/>
                <a:ea typeface="Aptos" pitchFamily="34" charset="-122"/>
                <a:cs typeface="Aptos" pitchFamily="34" charset="-120"/>
              </a:rPr>
              <a:t>Q</a:t>
            </a:r>
            <a:endParaRPr lang="en-US" sz="1200" dirty="0"/>
          </a:p>
        </p:txBody>
      </p:sp>
      <p:sp>
        <p:nvSpPr>
          <p:cNvPr id="10" name="Text 8"/>
          <p:cNvSpPr txBox="1"/>
          <p:nvPr/>
        </p:nvSpPr>
        <p:spPr>
          <a:xfrm>
            <a:off x="1207008" y="2916936"/>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How is the match score calculated?</a:t>
            </a:r>
            <a:endParaRPr lang="en-US" sz="1500" dirty="0"/>
          </a:p>
        </p:txBody>
      </p:sp>
      <p:sp>
        <p:nvSpPr>
          <p:cNvPr id="11" name="Text 9"/>
          <p:cNvSpPr txBox="1"/>
          <p:nvPr/>
        </p:nvSpPr>
        <p:spPr>
          <a:xfrm>
            <a:off x="5742432" y="2907792"/>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A weighted deterministic score uses matching skills, requested roles, interests and experience.</a:t>
            </a:r>
            <a:endParaRPr lang="en-US" sz="1300" dirty="0"/>
          </a:p>
        </p:txBody>
      </p:sp>
      <p:sp>
        <p:nvSpPr>
          <p:cNvPr id="12" name="Shape 10"/>
          <p:cNvSpPr/>
          <p:nvPr/>
        </p:nvSpPr>
        <p:spPr>
          <a:xfrm>
            <a:off x="868680" y="3593592"/>
            <a:ext cx="10213848" cy="0"/>
          </a:xfrm>
          <a:prstGeom prst="line">
            <a:avLst/>
          </a:prstGeom>
          <a:noFill/>
          <a:ln w="8890">
            <a:solidFill>
              <a:srgbClr val="243149"/>
            </a:solidFill>
            <a:prstDash val="solid"/>
          </a:ln>
        </p:spPr>
      </p:sp>
      <p:sp>
        <p:nvSpPr>
          <p:cNvPr id="13" name="Text 11"/>
          <p:cNvSpPr txBox="1"/>
          <p:nvPr/>
        </p:nvSpPr>
        <p:spPr>
          <a:xfrm>
            <a:off x="859536" y="3813048"/>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A985FF"/>
                </a:solidFill>
                <a:latin typeface="Aptos" pitchFamily="34" charset="0"/>
                <a:ea typeface="Aptos" pitchFamily="34" charset="-122"/>
                <a:cs typeface="Aptos" pitchFamily="34" charset="-120"/>
              </a:rPr>
              <a:t>Q</a:t>
            </a:r>
            <a:endParaRPr lang="en-US" sz="1200" dirty="0"/>
          </a:p>
        </p:txBody>
      </p:sp>
      <p:sp>
        <p:nvSpPr>
          <p:cNvPr id="14" name="Text 12"/>
          <p:cNvSpPr txBox="1"/>
          <p:nvPr/>
        </p:nvSpPr>
        <p:spPr>
          <a:xfrm>
            <a:off x="1207008" y="3794760"/>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Why can the matcher return zero people?</a:t>
            </a:r>
            <a:endParaRPr lang="en-US" sz="1500" dirty="0"/>
          </a:p>
        </p:txBody>
      </p:sp>
      <p:sp>
        <p:nvSpPr>
          <p:cNvPr id="15" name="Text 13"/>
          <p:cNvSpPr txBox="1"/>
          <p:nvPr/>
        </p:nvSpPr>
        <p:spPr>
          <a:xfrm>
            <a:off x="5742432" y="3785616"/>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There may be no other visible profiles yet. It does not fabricate candidates or reveal opted-out profiles.</a:t>
            </a:r>
            <a:endParaRPr lang="en-US" sz="1300" dirty="0"/>
          </a:p>
        </p:txBody>
      </p:sp>
      <p:sp>
        <p:nvSpPr>
          <p:cNvPr id="16" name="Shape 14"/>
          <p:cNvSpPr/>
          <p:nvPr/>
        </p:nvSpPr>
        <p:spPr>
          <a:xfrm>
            <a:off x="868680" y="4471416"/>
            <a:ext cx="10213848" cy="0"/>
          </a:xfrm>
          <a:prstGeom prst="line">
            <a:avLst/>
          </a:prstGeom>
          <a:noFill/>
          <a:ln w="8890">
            <a:solidFill>
              <a:srgbClr val="243149"/>
            </a:solidFill>
            <a:prstDash val="solid"/>
          </a:ln>
        </p:spPr>
      </p:sp>
      <p:sp>
        <p:nvSpPr>
          <p:cNvPr id="17" name="Text 15"/>
          <p:cNvSpPr txBox="1"/>
          <p:nvPr/>
        </p:nvSpPr>
        <p:spPr>
          <a:xfrm>
            <a:off x="859536" y="4690872"/>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A985FF"/>
                </a:solidFill>
                <a:latin typeface="Aptos" pitchFamily="34" charset="0"/>
                <a:ea typeface="Aptos" pitchFamily="34" charset="-122"/>
                <a:cs typeface="Aptos" pitchFamily="34" charset="-120"/>
              </a:rPr>
              <a:t>Q</a:t>
            </a:r>
            <a:endParaRPr lang="en-US" sz="1200" dirty="0"/>
          </a:p>
        </p:txBody>
      </p:sp>
      <p:sp>
        <p:nvSpPr>
          <p:cNvPr id="18" name="Text 16"/>
          <p:cNvSpPr txBox="1"/>
          <p:nvPr/>
        </p:nvSpPr>
        <p:spPr>
          <a:xfrm>
            <a:off x="1207008" y="4672584"/>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Is the score an objective measure of a person?</a:t>
            </a:r>
            <a:endParaRPr lang="en-US" sz="1500" dirty="0"/>
          </a:p>
        </p:txBody>
      </p:sp>
      <p:sp>
        <p:nvSpPr>
          <p:cNvPr id="19" name="Text 17"/>
          <p:cNvSpPr txBox="1"/>
          <p:nvPr/>
        </p:nvSpPr>
        <p:spPr>
          <a:xfrm>
            <a:off x="5742432" y="4663440"/>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No. It is a project-fit signal from limited profile fields—not a ranking of student ability.</a:t>
            </a:r>
            <a:endParaRPr lang="en-US" sz="13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58368" y="347472"/>
            <a:ext cx="6858000" cy="219456"/>
          </a:xfrm>
          <a:prstGeom prst="rect">
            <a:avLst/>
          </a:prstGeom>
          <a:noFill/>
          <a:ln/>
        </p:spPr>
        <p:txBody>
          <a:bodyPr wrap="square" lIns="0" tIns="0" rIns="0" bIns="0" rtlCol="0" anchor="ctr">
            <a:normAutofit/>
          </a:bodyPr>
          <a:lstStyle/>
          <a:p>
            <a:pPr algn="l" indent="0" marL="0">
              <a:lnSpc>
                <a:spcPct val="112000"/>
              </a:lnSpc>
              <a:buNone/>
            </a:pPr>
            <a:r>
              <a:rPr lang="en-US" sz="900" b="1" spc="150" kern="0" dirty="0">
                <a:solidFill>
                  <a:srgbClr val="37D7E5"/>
                </a:solidFill>
                <a:latin typeface="Aptos" pitchFamily="34" charset="0"/>
                <a:ea typeface="Aptos" pitchFamily="34" charset="-122"/>
                <a:cs typeface="Aptos" pitchFamily="34" charset="-120"/>
              </a:rPr>
              <a:t>JUDGE Q&amp;A</a:t>
            </a:r>
            <a:endParaRPr lang="en-US" sz="900" dirty="0"/>
          </a:p>
        </p:txBody>
      </p:sp>
      <p:sp>
        <p:nvSpPr>
          <p:cNvPr id="3" name="Text 1"/>
          <p:cNvSpPr txBox="1"/>
          <p:nvPr/>
        </p:nvSpPr>
        <p:spPr>
          <a:xfrm>
            <a:off x="658368" y="704088"/>
            <a:ext cx="10881360" cy="658368"/>
          </a:xfrm>
          <a:prstGeom prst="rect">
            <a:avLst/>
          </a:prstGeom>
          <a:noFill/>
          <a:ln/>
        </p:spPr>
        <p:txBody>
          <a:bodyPr wrap="square" lIns="0" tIns="0" rIns="0" bIns="0" rtlCol="0" anchor="ctr">
            <a:normAutofit/>
          </a:bodyPr>
          <a:lstStyle/>
          <a:p>
            <a:pPr algn="l" indent="0" marL="0">
              <a:lnSpc>
                <a:spcPct val="112000"/>
              </a:lnSpc>
              <a:buNone/>
            </a:pPr>
            <a:r>
              <a:rPr lang="en-US" sz="3100" b="1" dirty="0">
                <a:solidFill>
                  <a:srgbClr val="F2F6FC"/>
                </a:solidFill>
                <a:latin typeface="Aptos Display" pitchFamily="34" charset="0"/>
                <a:ea typeface="Aptos Display" pitchFamily="34" charset="-122"/>
                <a:cs typeface="Aptos Display" pitchFamily="34" charset="-120"/>
              </a:rPr>
              <a:t>Operations, scale and sustainability</a:t>
            </a:r>
            <a:endParaRPr lang="en-US" sz="3100" dirty="0"/>
          </a:p>
        </p:txBody>
      </p:sp>
      <p:sp>
        <p:nvSpPr>
          <p:cNvPr id="4" name="Text 2"/>
          <p:cNvSpPr txBox="1"/>
          <p:nvPr/>
        </p:nvSpPr>
        <p:spPr>
          <a:xfrm>
            <a:off x="676656" y="1453896"/>
            <a:ext cx="10607040" cy="411480"/>
          </a:xfrm>
          <a:prstGeom prst="rect">
            <a:avLst/>
          </a:prstGeom>
          <a:noFill/>
          <a:ln/>
        </p:spPr>
        <p:txBody>
          <a:bodyPr wrap="square" lIns="0" tIns="0" rIns="0" bIns="0" rtlCol="0" anchor="ctr">
            <a:normAutofit/>
          </a:bodyPr>
          <a:lstStyle/>
          <a:p>
            <a:pPr algn="l" indent="0" marL="0">
              <a:lnSpc>
                <a:spcPct val="112000"/>
              </a:lnSpc>
              <a:buNone/>
            </a:pPr>
            <a:r>
              <a:rPr lang="en-US" sz="1500" dirty="0">
                <a:solidFill>
                  <a:srgbClr val="A8B5C9"/>
                </a:solidFill>
                <a:latin typeface="Aptos" pitchFamily="34" charset="0"/>
                <a:ea typeface="Aptos" pitchFamily="34" charset="-122"/>
                <a:cs typeface="Aptos" pitchFamily="34" charset="-120"/>
              </a:rPr>
              <a:t>Describe the next test before proposing scale.</a:t>
            </a:r>
            <a:endParaRPr lang="en-US" sz="1500" dirty="0"/>
          </a:p>
        </p:txBody>
      </p:sp>
      <p:sp>
        <p:nvSpPr>
          <p:cNvPr id="5" name="Text 3"/>
          <p:cNvSpPr txBox="1"/>
          <p:nvPr/>
        </p:nvSpPr>
        <p:spPr>
          <a:xfrm>
            <a:off x="859536" y="2057400"/>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37D7E5"/>
                </a:solidFill>
                <a:latin typeface="Aptos" pitchFamily="34" charset="0"/>
                <a:ea typeface="Aptos" pitchFamily="34" charset="-122"/>
                <a:cs typeface="Aptos" pitchFamily="34" charset="-120"/>
              </a:rPr>
              <a:t>Q</a:t>
            </a:r>
            <a:endParaRPr lang="en-US" sz="1200" dirty="0"/>
          </a:p>
        </p:txBody>
      </p:sp>
      <p:sp>
        <p:nvSpPr>
          <p:cNvPr id="6" name="Text 4"/>
          <p:cNvSpPr txBox="1"/>
          <p:nvPr/>
        </p:nvSpPr>
        <p:spPr>
          <a:xfrm>
            <a:off x="1207008" y="2039112"/>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Do reminders work when the app is closed?</a:t>
            </a:r>
            <a:endParaRPr lang="en-US" sz="1500" dirty="0"/>
          </a:p>
        </p:txBody>
      </p:sp>
      <p:sp>
        <p:nvSpPr>
          <p:cNvPr id="7" name="Text 5"/>
          <p:cNvSpPr txBox="1"/>
          <p:nvPr/>
        </p:nvSpPr>
        <p:spPr>
          <a:xfrm>
            <a:off x="5742432" y="2029968"/>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Not in this prototype. Browser alerts require permission and run while the app is open.</a:t>
            </a:r>
            <a:endParaRPr lang="en-US" sz="1300" dirty="0"/>
          </a:p>
        </p:txBody>
      </p:sp>
      <p:sp>
        <p:nvSpPr>
          <p:cNvPr id="8" name="Shape 6"/>
          <p:cNvSpPr/>
          <p:nvPr/>
        </p:nvSpPr>
        <p:spPr>
          <a:xfrm>
            <a:off x="868680" y="2715768"/>
            <a:ext cx="10213848" cy="0"/>
          </a:xfrm>
          <a:prstGeom prst="line">
            <a:avLst/>
          </a:prstGeom>
          <a:noFill/>
          <a:ln w="8890">
            <a:solidFill>
              <a:srgbClr val="243149"/>
            </a:solidFill>
            <a:prstDash val="solid"/>
          </a:ln>
        </p:spPr>
      </p:sp>
      <p:sp>
        <p:nvSpPr>
          <p:cNvPr id="9" name="Text 7"/>
          <p:cNvSpPr txBox="1"/>
          <p:nvPr/>
        </p:nvSpPr>
        <p:spPr>
          <a:xfrm>
            <a:off x="859536" y="2935224"/>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37D7E5"/>
                </a:solidFill>
                <a:latin typeface="Aptos" pitchFamily="34" charset="0"/>
                <a:ea typeface="Aptos" pitchFamily="34" charset="-122"/>
                <a:cs typeface="Aptos" pitchFamily="34" charset="-120"/>
              </a:rPr>
              <a:t>Q</a:t>
            </a:r>
            <a:endParaRPr lang="en-US" sz="1200" dirty="0"/>
          </a:p>
        </p:txBody>
      </p:sp>
      <p:sp>
        <p:nvSpPr>
          <p:cNvPr id="10" name="Text 8"/>
          <p:cNvSpPr txBox="1"/>
          <p:nvPr/>
        </p:nvSpPr>
        <p:spPr>
          <a:xfrm>
            <a:off x="1207008" y="2916936"/>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How will you keep data current?</a:t>
            </a:r>
            <a:endParaRPr lang="en-US" sz="1500" dirty="0"/>
          </a:p>
        </p:txBody>
      </p:sp>
      <p:sp>
        <p:nvSpPr>
          <p:cNvPr id="11" name="Text 9"/>
          <p:cNvSpPr txBox="1"/>
          <p:nvPr/>
        </p:nvSpPr>
        <p:spPr>
          <a:xfrm>
            <a:off x="5742432" y="2907792"/>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Pilot with campus partners and sourced submissions first; automate ingestion only with review and provenance.</a:t>
            </a:r>
            <a:endParaRPr lang="en-US" sz="1300" dirty="0"/>
          </a:p>
        </p:txBody>
      </p:sp>
      <p:sp>
        <p:nvSpPr>
          <p:cNvPr id="12" name="Shape 10"/>
          <p:cNvSpPr/>
          <p:nvPr/>
        </p:nvSpPr>
        <p:spPr>
          <a:xfrm>
            <a:off x="868680" y="3593592"/>
            <a:ext cx="10213848" cy="0"/>
          </a:xfrm>
          <a:prstGeom prst="line">
            <a:avLst/>
          </a:prstGeom>
          <a:noFill/>
          <a:ln w="8890">
            <a:solidFill>
              <a:srgbClr val="243149"/>
            </a:solidFill>
            <a:prstDash val="solid"/>
          </a:ln>
        </p:spPr>
      </p:sp>
      <p:sp>
        <p:nvSpPr>
          <p:cNvPr id="13" name="Text 11"/>
          <p:cNvSpPr txBox="1"/>
          <p:nvPr/>
        </p:nvSpPr>
        <p:spPr>
          <a:xfrm>
            <a:off x="859536" y="3813048"/>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37D7E5"/>
                </a:solidFill>
                <a:latin typeface="Aptos" pitchFamily="34" charset="0"/>
                <a:ea typeface="Aptos" pitchFamily="34" charset="-122"/>
                <a:cs typeface="Aptos" pitchFamily="34" charset="-120"/>
              </a:rPr>
              <a:t>Q</a:t>
            </a:r>
            <a:endParaRPr lang="en-US" sz="1200" dirty="0"/>
          </a:p>
        </p:txBody>
      </p:sp>
      <p:sp>
        <p:nvSpPr>
          <p:cNvPr id="14" name="Text 12"/>
          <p:cNvSpPr txBox="1"/>
          <p:nvPr/>
        </p:nvSpPr>
        <p:spPr>
          <a:xfrm>
            <a:off x="1207008" y="3794760"/>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What is the business model?</a:t>
            </a:r>
            <a:endParaRPr lang="en-US" sz="1500" dirty="0"/>
          </a:p>
        </p:txBody>
      </p:sp>
      <p:sp>
        <p:nvSpPr>
          <p:cNvPr id="15" name="Text 13"/>
          <p:cNvSpPr txBox="1"/>
          <p:nvPr/>
        </p:nvSpPr>
        <p:spPr>
          <a:xfrm>
            <a:off x="5742432" y="3785616"/>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Not validated yet. First validate campus adoption and operating cost with a focused pilot.</a:t>
            </a:r>
            <a:endParaRPr lang="en-US" sz="1300" dirty="0"/>
          </a:p>
        </p:txBody>
      </p:sp>
      <p:sp>
        <p:nvSpPr>
          <p:cNvPr id="16" name="Shape 14"/>
          <p:cNvSpPr/>
          <p:nvPr/>
        </p:nvSpPr>
        <p:spPr>
          <a:xfrm>
            <a:off x="868680" y="4471416"/>
            <a:ext cx="10213848" cy="0"/>
          </a:xfrm>
          <a:prstGeom prst="line">
            <a:avLst/>
          </a:prstGeom>
          <a:noFill/>
          <a:ln w="8890">
            <a:solidFill>
              <a:srgbClr val="243149"/>
            </a:solidFill>
            <a:prstDash val="solid"/>
          </a:ln>
        </p:spPr>
      </p:sp>
      <p:sp>
        <p:nvSpPr>
          <p:cNvPr id="17" name="Text 15"/>
          <p:cNvSpPr txBox="1"/>
          <p:nvPr/>
        </p:nvSpPr>
        <p:spPr>
          <a:xfrm>
            <a:off x="859536" y="4690872"/>
            <a:ext cx="256032" cy="256032"/>
          </a:xfrm>
          <a:prstGeom prst="rect">
            <a:avLst/>
          </a:prstGeom>
          <a:noFill/>
          <a:ln/>
        </p:spPr>
        <p:txBody>
          <a:bodyPr wrap="square" lIns="0" tIns="0" rIns="0" bIns="0" rtlCol="0" anchor="ctr">
            <a:normAutofit/>
          </a:bodyPr>
          <a:lstStyle/>
          <a:p>
            <a:pPr algn="l" indent="0" marL="0">
              <a:lnSpc>
                <a:spcPct val="112000"/>
              </a:lnSpc>
              <a:buNone/>
            </a:pPr>
            <a:r>
              <a:rPr lang="en-US" sz="1200" b="1" dirty="0">
                <a:solidFill>
                  <a:srgbClr val="37D7E5"/>
                </a:solidFill>
                <a:latin typeface="Aptos" pitchFamily="34" charset="0"/>
                <a:ea typeface="Aptos" pitchFamily="34" charset="-122"/>
                <a:cs typeface="Aptos" pitchFamily="34" charset="-120"/>
              </a:rPr>
              <a:t>Q</a:t>
            </a:r>
            <a:endParaRPr lang="en-US" sz="1200" dirty="0"/>
          </a:p>
        </p:txBody>
      </p:sp>
      <p:sp>
        <p:nvSpPr>
          <p:cNvPr id="18" name="Text 16"/>
          <p:cNvSpPr txBox="1"/>
          <p:nvPr/>
        </p:nvSpPr>
        <p:spPr>
          <a:xfrm>
            <a:off x="1207008" y="4672584"/>
            <a:ext cx="4389120" cy="365760"/>
          </a:xfrm>
          <a:prstGeom prst="rect">
            <a:avLst/>
          </a:prstGeom>
          <a:noFill/>
          <a:ln/>
        </p:spPr>
        <p:txBody>
          <a:bodyPr wrap="square" lIns="0" tIns="0" rIns="0" bIns="0" rtlCol="0" anchor="ctr">
            <a:normAutofit/>
          </a:bodyPr>
          <a:lstStyle/>
          <a:p>
            <a:pPr algn="l" indent="0" marL="0">
              <a:lnSpc>
                <a:spcPct val="112000"/>
              </a:lnSpc>
              <a:buNone/>
            </a:pPr>
            <a:r>
              <a:rPr lang="en-US" sz="1500" b="1" dirty="0">
                <a:solidFill>
                  <a:srgbClr val="F2F6FC"/>
                </a:solidFill>
                <a:latin typeface="Aptos Display" pitchFamily="34" charset="0"/>
                <a:ea typeface="Aptos Display" pitchFamily="34" charset="-122"/>
                <a:cs typeface="Aptos Display" pitchFamily="34" charset="-120"/>
              </a:rPr>
              <a:t>What is the success metric?</a:t>
            </a:r>
            <a:endParaRPr lang="en-US" sz="1500" dirty="0"/>
          </a:p>
        </p:txBody>
      </p:sp>
      <p:sp>
        <p:nvSpPr>
          <p:cNvPr id="19" name="Text 17"/>
          <p:cNvSpPr txBox="1"/>
          <p:nvPr/>
        </p:nvSpPr>
        <p:spPr>
          <a:xfrm>
            <a:off x="5742432" y="4663440"/>
            <a:ext cx="5157216" cy="566928"/>
          </a:xfrm>
          <a:prstGeom prst="rect">
            <a:avLst/>
          </a:prstGeom>
          <a:noFill/>
          <a:ln/>
        </p:spPr>
        <p:txBody>
          <a:bodyPr wrap="square" lIns="0" tIns="0" rIns="0" bIns="0" rtlCol="0" anchor="t">
            <a:normAutofit/>
          </a:bodyPr>
          <a:lstStyle/>
          <a:p>
            <a:pPr algn="l" indent="0" marL="0">
              <a:lnSpc>
                <a:spcPct val="112000"/>
              </a:lnSpc>
              <a:buNone/>
            </a:pPr>
            <a:r>
              <a:rPr lang="en-US" sz="1300" dirty="0">
                <a:solidFill>
                  <a:srgbClr val="A8B5C9"/>
                </a:solidFill>
                <a:latin typeface="Aptos" pitchFamily="34" charset="0"/>
                <a:ea typeface="Aptos" pitchFamily="34" charset="-122"/>
                <a:cs typeface="Aptos" pitchFamily="34" charset="-120"/>
              </a:rPr>
              <a:t>Extraction correction rate, time from notice to save, reminder usefulness and accepted team introductions.</a:t>
            </a:r>
            <a:endParaRPr lang="en-US" sz="1300" dirty="0"/>
          </a:p>
        </p:txBody>
      </p:sp>
      <p:sp>
        <p:nvSpPr>
          <p:cNvPr id="25" name="Slide Number Placeholder 0"/>
          <p:cNvSpPr>
            <a:spLocks noGrp="1"/>
          </p:cNvSpPr>
          <p:nvPr>
            <p:ph type="sldNum" sz="quarter" idx="4294967295"/>
          </p:nvPr>
        </p:nvSpPr>
        <p:spPr>
          <a:xfrm>
            <a:off x="11301984" y="6565392"/>
            <a:ext cx="2743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7B4C8"/>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CampusSignal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CampusSignal AI — Campus Opportunity Intelligence</dc:title>
  <dc:subject>CampusSignal AI judge pitch and prototype walkthrough</dc:subject>
  <dc:creator>CampusSignal AI</dc:creator>
  <cp:lastModifiedBy>CampusSignal AI</cp:lastModifiedBy>
  <cp:revision>1</cp:revision>
  <dcterms:created xsi:type="dcterms:W3CDTF">2026-10-31T10:33:58Z</dcterms:created>
  <dcterms:modified xsi:type="dcterms:W3CDTF">2026-10-31T10:33:58Z</dcterms:modified>
</cp:coreProperties>
</file>